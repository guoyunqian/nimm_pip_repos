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58" r:id="rId6"/>
    <p:sldId id="260" r:id="rId7"/>
    <p:sldId id="261" r:id="rId8"/>
    <p:sldId id="259" r:id="rId9"/>
    <p:sldId id="263" r:id="rId10"/>
    <p:sldId id="264" r:id="rId11"/>
    <p:sldId id="265" r:id="rId12"/>
    <p:sldId id="269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3.emf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6.emf"/><Relationship Id="rId1" Type="http://schemas.openxmlformats.org/officeDocument/2006/relationships/tags" Target="../tags/tag9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网格天气现象电码生成系统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背景和目标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263015" y="4147185"/>
            <a:ext cx="9157970" cy="2576195"/>
          </a:xfrm>
        </p:spPr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通过读取网格预报（9个变量），自动判识31种天气现象，输出标准5位综合电码网格，覆盖003-240h，共20个时段。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8185" y="266770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63015" y="1823085"/>
            <a:ext cx="10314305" cy="121856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 altLang="zh-CN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城镇预报业务流程优化调整工作，要求各省必须上传逐12小时的网格天气现象（KAABB）综合电码，提高预报生成效率和规范性。</a:t>
            </a:r>
            <a:endParaRPr lang="en-US" altLang="zh-CN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marL="0" algn="l">
              <a:buClrTx/>
              <a:buSzTx/>
              <a:buNone/>
            </a:pPr>
            <a:r>
              <a:rPr lang="en-US" altLang="zh-CN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依据：国家气象行业标准</a:t>
            </a:r>
            <a:r>
              <a:rPr lang="en-US" altLang="zh-CN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  <a:sym typeface="+mn-ea"/>
              </a:rPr>
              <a:t>QX/T740-2024《基于网格预报的城镇预报生成规范 天气现象》，以及国家气象中心《国省统筹算法开发技术规范和手册》。</a:t>
            </a:r>
            <a:endParaRPr lang="en-US" altLang="zh-CN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4415" y="3778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 spc="1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j-ea"/>
                <a:ea typeface="+mj-ea"/>
                <a:cs typeface="+mj-ea"/>
              </a:rPr>
              <a:t>目标</a:t>
            </a:r>
            <a:endParaRPr lang="en-US" altLang="zh-CN" b="1" spc="15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8530" y="1313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b="1" spc="1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j-ea"/>
                <a:ea typeface="+mj-ea"/>
                <a:cs typeface="+mj-ea"/>
              </a:rPr>
              <a:t>背景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58115" y="102870"/>
          <a:ext cx="5038725" cy="6449060"/>
        </p:xfrm>
        <a:graphic>
          <a:graphicData uri="http://schemas.openxmlformats.org/drawingml/2006/table">
            <a:tbl>
              <a:tblPr/>
              <a:tblGrid>
                <a:gridCol w="1089025"/>
                <a:gridCol w="2270125"/>
                <a:gridCol w="1679575"/>
              </a:tblGrid>
              <a:tr h="388620"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变量名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说明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有效时效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01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R03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3h累计降水量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003~240h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6810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PTYPE03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降水类型 (1=雨/2=雪/3=雨夹雪/4=冻雨)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003~240h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01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TCC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总云量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003~240h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7380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FOG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雾等级 (1~5)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003~072h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01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HAZE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霾等级 (1~4)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003~072h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7380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SAND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沙尘等级 (1~3)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003~072h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7730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THUNDER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雷暴标志 (≥1=有雷暴)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003~072h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709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HAIL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冰雹标志 (≥1=有冰雹)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003~072h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6195060" y="1543050"/>
          <a:ext cx="5143500" cy="2731770"/>
        </p:xfrm>
        <a:graphic>
          <a:graphicData uri="http://schemas.openxmlformats.org/drawingml/2006/table">
            <a:tbl>
              <a:tblPr/>
              <a:tblGrid>
                <a:gridCol w="1285875"/>
                <a:gridCol w="1285875"/>
                <a:gridCol w="1285875"/>
                <a:gridCol w="1285875"/>
              </a:tblGrid>
              <a:tr h="455295"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电码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天气现象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影响级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类别</a:t>
                      </a:r>
                      <a:endParaRPr lang="en-US" altLang="zh-CN" sz="180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12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特大暴雨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降水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37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特大暴雪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2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降水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...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...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...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...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01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多云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30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天空状况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5295"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00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晴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31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8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天空状况</a:t>
                      </a:r>
                      <a:endParaRPr lang="en-US" altLang="zh-CN" sz="18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261610" y="5147310"/>
            <a:ext cx="6859270" cy="130302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800" b="0" i="0" spc="15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j-ea"/>
                <a:ea typeface="+mj-ea"/>
                <a:cs typeface="+mj-ea"/>
              </a:rPr>
              <a:t>系统对 72h 后缺失的FOG/HAZE/SAND/THUNDER/HAIL 自动填零处理，不影响降水类和天空类判识。</a:t>
            </a:r>
            <a:endParaRPr lang="en-US" altLang="zh-CN" sz="1800" b="0" i="0" spc="15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j-ea"/>
              <a:ea typeface="+mj-ea"/>
              <a:cs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系统架构 — 三级架构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Level 3  </a:t>
            </a:r>
            <a:r>
              <a:rPr lang="zh-CN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算法应用 (</a:t>
            </a:r>
            <a:r>
              <a:rPr lang="en-US" altLang="zh-CN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CLI)</a:t>
            </a:r>
            <a:endParaRPr lang="en-US" altLang="zh-CN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cli/main.py    — 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命令行入口，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POSIX 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退出码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cli/runner.py   — 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编排调度：加载(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cli.data_loader)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  + 计算(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src.processor)，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并行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cli/data_loader.py — 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唯一的文件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I/O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入口（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meteva 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读取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NC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文件）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Level 2  算法插件 (Plugins) 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DIA_WeatherPhenomIdentifier   判识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DIA_WeatherPhenomSelector     选取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DIA_WeatherPhenomLogicJudger  逻辑关系判断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 algn="l">
              <a:buClrTx/>
              <a:buSzTx/>
              <a:buFont typeface="Wingdings" panose="05000000000000000000" charset="0"/>
              <a:buChar char="ü"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DIA_WeatherPhenomEncoder      编码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Level 1  基础函数 (Functions) 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zh-CN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identify / select / judge / encode / decode </a:t>
            </a:r>
            <a:endParaRPr lang="en-US" altLang="zh-CN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0" y="70"/>
            <a:ext cx="10969200" cy="705600"/>
          </a:xfrm>
        </p:spPr>
        <p:txBody>
          <a:bodyPr/>
          <a:p>
            <a:r>
              <a:rPr lang="zh-CN" altLang="en-US"/>
              <a:t>算法流程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218170" y="0"/>
            <a:ext cx="3974465" cy="419735"/>
          </a:xfrm>
        </p:spPr>
        <p:txBody>
          <a:bodyPr/>
          <a:p>
            <a:pPr marL="0" indent="0">
              <a:buNone/>
            </a:pPr>
            <a:r>
              <a:rPr lang="en-US" altLang="zh-CN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ea"/>
                <a:ea typeface="+mj-ea"/>
                <a:cs typeface="+mj-ea"/>
              </a:rPr>
              <a:t>依据 QX/T 740-2024 附录C 流程图</a:t>
            </a:r>
            <a:endParaRPr lang="en-US" altLang="zh-CN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  <a:cs typeface="+mj-ea"/>
            </a:endParaRPr>
          </a:p>
        </p:txBody>
      </p:sp>
      <p:grpSp>
        <p:nvGrpSpPr>
          <p:cNvPr id="601" name="Group601"/>
          <p:cNvGrpSpPr/>
          <p:nvPr/>
        </p:nvGrpSpPr>
        <p:grpSpPr>
          <a:xfrm>
            <a:off x="822960" y="638175"/>
            <a:ext cx="10569575" cy="10198735"/>
            <a:chOff x="-330070" y="-301330"/>
            <a:chExt cx="9971656" cy="12388000"/>
          </a:xfrm>
        </p:grpSpPr>
        <p:grpSp>
          <p:nvGrpSpPr>
            <p:cNvPr id="356" name="Flowchart Shapes"/>
            <p:cNvGrpSpPr/>
            <p:nvPr/>
          </p:nvGrpSpPr>
          <p:grpSpPr>
            <a:xfrm>
              <a:off x="-330070" y="-179737"/>
              <a:ext cx="4377600" cy="7326400"/>
              <a:chOff x="-330070" y="-179737"/>
              <a:chExt cx="4377600" cy="7326400"/>
            </a:xfrm>
          </p:grpSpPr>
          <p:sp>
            <p:nvSpPr>
              <p:cNvPr id="357" name="任意多边形: 形状 356"/>
              <p:cNvSpPr/>
              <p:nvPr/>
            </p:nvSpPr>
            <p:spPr>
              <a:xfrm>
                <a:off x="-330070" y="-179737"/>
                <a:ext cx="4377600" cy="7326400"/>
              </a:xfrm>
              <a:custGeom>
                <a:avLst/>
                <a:gdLst/>
                <a:ahLst/>
                <a:cxnLst/>
                <a:rect l="0" t="0" r="0" b="0"/>
                <a:pathLst>
                  <a:path w="4377600" h="7326400">
                    <a:moveTo>
                      <a:pt x="4377600" y="7326400"/>
                    </a:moveTo>
                    <a:lnTo>
                      <a:pt x="4377600" y="0"/>
                    </a:lnTo>
                    <a:lnTo>
                      <a:pt x="0" y="0"/>
                    </a:lnTo>
                    <a:lnTo>
                      <a:pt x="0" y="7326400"/>
                    </a:lnTo>
                    <a:lnTo>
                      <a:pt x="4377600" y="7326400"/>
                    </a:lnTo>
                    <a:close/>
                  </a:path>
                </a:pathLst>
              </a:custGeom>
              <a:noFill/>
              <a:ln w="20267" cap="flat">
                <a:solidFill>
                  <a:srgbClr val="000000"/>
                </a:solidFill>
                <a:custDash>
                  <a:ds d="1100000" sp="500000"/>
                </a:custDash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8" name="Flowchart Shapes"/>
            <p:cNvGrpSpPr/>
            <p:nvPr/>
          </p:nvGrpSpPr>
          <p:grpSpPr>
            <a:xfrm>
              <a:off x="317643" y="-26209"/>
              <a:ext cx="1958974" cy="577600"/>
              <a:chOff x="317643" y="-26209"/>
              <a:chExt cx="1958974" cy="577600"/>
            </a:xfrm>
          </p:grpSpPr>
          <p:sp>
            <p:nvSpPr>
              <p:cNvPr id="109" name="任意多边形: 形状 108"/>
              <p:cNvSpPr/>
              <p:nvPr/>
            </p:nvSpPr>
            <p:spPr>
              <a:xfrm>
                <a:off x="317643" y="55871"/>
                <a:ext cx="1958974" cy="413440"/>
              </a:xfrm>
              <a:custGeom>
                <a:avLst/>
                <a:gdLst/>
                <a:ahLst/>
                <a:cxnLst/>
                <a:rect l="0" t="0" r="0" b="0"/>
                <a:pathLst>
                  <a:path w="1810586" h="413440">
                    <a:moveTo>
                      <a:pt x="1810586" y="413440"/>
                    </a:moveTo>
                    <a:lnTo>
                      <a:pt x="1810586" y="0"/>
                    </a:lnTo>
                    <a:lnTo>
                      <a:pt x="0" y="0"/>
                    </a:lnTo>
                    <a:lnTo>
                      <a:pt x="0" y="413440"/>
                    </a:lnTo>
                    <a:lnTo>
                      <a:pt x="1810586" y="41344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2" name="Text 602"/>
              <p:cNvSpPr txBox="1"/>
              <p:nvPr/>
            </p:nvSpPr>
            <p:spPr>
              <a:xfrm>
                <a:off x="401354" y="-26209"/>
                <a:ext cx="1810586" cy="5776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99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判识</a:t>
                </a:r>
                <a:r>
                  <a:rPr sz="99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“</a:t>
                </a:r>
                <a:r>
                  <a:rPr sz="990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出现</a:t>
                </a:r>
                <a:r>
                  <a:rPr sz="99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”</a:t>
                </a:r>
                <a:r>
                  <a:rPr lang="zh-CN" altLang="en-US" sz="99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的</a:t>
                </a:r>
                <a:r>
                  <a:rPr sz="990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</a:t>
                </a:r>
                <a:endParaRPr sz="99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36" name="Flowchart Shapes"/>
            <p:cNvGrpSpPr/>
            <p:nvPr/>
          </p:nvGrpSpPr>
          <p:grpSpPr>
            <a:xfrm>
              <a:off x="4518654" y="-61169"/>
              <a:ext cx="1926600" cy="740239"/>
              <a:chOff x="4518654" y="-61169"/>
              <a:chExt cx="1926600" cy="740239"/>
            </a:xfrm>
          </p:grpSpPr>
          <p:sp>
            <p:nvSpPr>
              <p:cNvPr id="140" name="任意多边形: 形状 139"/>
              <p:cNvSpPr/>
              <p:nvPr/>
            </p:nvSpPr>
            <p:spPr>
              <a:xfrm>
                <a:off x="4518654" y="-61169"/>
                <a:ext cx="1926600" cy="740239"/>
              </a:xfrm>
              <a:custGeom>
                <a:avLst/>
                <a:gdLst/>
                <a:ahLst/>
                <a:cxnLst/>
                <a:rect l="0" t="0" r="0" b="0"/>
                <a:pathLst>
                  <a:path w="1926600" h="623200">
                    <a:moveTo>
                      <a:pt x="-155800" y="623200"/>
                    </a:moveTo>
                    <a:lnTo>
                      <a:pt x="1459200" y="623200"/>
                    </a:lnTo>
                    <a:lnTo>
                      <a:pt x="1770800" y="0"/>
                    </a:lnTo>
                    <a:lnTo>
                      <a:pt x="155800" y="0"/>
                    </a:lnTo>
                    <a:lnTo>
                      <a:pt x="-155800" y="623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3" name="Text 603"/>
              <p:cNvSpPr txBox="1"/>
              <p:nvPr/>
            </p:nvSpPr>
            <p:spPr>
              <a:xfrm>
                <a:off x="4561028" y="-52215"/>
                <a:ext cx="1615000" cy="67488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12h时段内天气现象: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天气现象A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endParaRPr lang="en-US" altLang="zh-CN"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天气现象</a:t>
                </a:r>
                <a:r>
                  <a:rPr lang="en-US" altLang="zh-CN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、</a:t>
                </a:r>
                <a:r>
                  <a:rPr lang="en-US" altLang="zh-CN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2" name="Flowchart Shapes"/>
            <p:cNvGrpSpPr/>
            <p:nvPr/>
          </p:nvGrpSpPr>
          <p:grpSpPr>
            <a:xfrm>
              <a:off x="4526254" y="1758271"/>
              <a:ext cx="1607476" cy="760000"/>
              <a:chOff x="4526254" y="1758271"/>
              <a:chExt cx="1607476" cy="760000"/>
            </a:xfrm>
          </p:grpSpPr>
          <p:sp>
            <p:nvSpPr>
              <p:cNvPr id="224" name="任意多边形: 形状 223"/>
              <p:cNvSpPr/>
              <p:nvPr/>
            </p:nvSpPr>
            <p:spPr>
              <a:xfrm>
                <a:off x="4526254" y="1758271"/>
                <a:ext cx="1607476" cy="760000"/>
              </a:xfrm>
              <a:custGeom>
                <a:avLst/>
                <a:gdLst/>
                <a:ahLst/>
                <a:cxnLst/>
                <a:rect l="0" t="0" r="0" b="0"/>
                <a:pathLst>
                  <a:path w="1607476" h="760000">
                    <a:moveTo>
                      <a:pt x="803738" y="760000"/>
                    </a:moveTo>
                    <a:lnTo>
                      <a:pt x="1607476" y="380000"/>
                    </a:lnTo>
                    <a:lnTo>
                      <a:pt x="803738" y="0"/>
                    </a:lnTo>
                    <a:lnTo>
                      <a:pt x="0" y="380000"/>
                    </a:lnTo>
                    <a:lnTo>
                      <a:pt x="803738" y="7600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" name="Text 604"/>
              <p:cNvSpPr txBox="1"/>
              <p:nvPr/>
            </p:nvSpPr>
            <p:spPr>
              <a:xfrm>
                <a:off x="4526254" y="1800831"/>
                <a:ext cx="1607476" cy="67488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是否选出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2种天气现象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A、B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37" name="ConnectLine"/>
            <p:cNvSpPr/>
            <p:nvPr/>
          </p:nvSpPr>
          <p:spPr>
            <a:xfrm>
              <a:off x="5326158" y="679070"/>
              <a:ext cx="7600" cy="1079200"/>
            </a:xfrm>
            <a:custGeom>
              <a:avLst/>
              <a:gdLst/>
              <a:ahLst/>
              <a:cxnLst/>
              <a:rect l="0" t="0" r="0" b="0"/>
              <a:pathLst>
                <a:path w="7600" h="1079200" fill="none">
                  <a:moveTo>
                    <a:pt x="0" y="0"/>
                  </a:moveTo>
                  <a:lnTo>
                    <a:pt x="0" y="836000"/>
                  </a:lnTo>
                  <a:lnTo>
                    <a:pt x="3838" y="10792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8" name="Flowchart Shapes"/>
            <p:cNvGrpSpPr/>
            <p:nvPr/>
          </p:nvGrpSpPr>
          <p:grpSpPr>
            <a:xfrm>
              <a:off x="4436954" y="3952634"/>
              <a:ext cx="1804151" cy="1392837"/>
              <a:chOff x="4436954" y="3952634"/>
              <a:chExt cx="1804151" cy="1392837"/>
            </a:xfrm>
          </p:grpSpPr>
          <p:sp>
            <p:nvSpPr>
              <p:cNvPr id="240" name="任意多边形: 形状 239"/>
              <p:cNvSpPr/>
              <p:nvPr/>
            </p:nvSpPr>
            <p:spPr>
              <a:xfrm>
                <a:off x="4436954" y="3952634"/>
                <a:ext cx="1786000" cy="1392837"/>
              </a:xfrm>
              <a:custGeom>
                <a:avLst/>
                <a:gdLst/>
                <a:ahLst/>
                <a:cxnLst/>
                <a:rect l="0" t="0" r="0" b="0"/>
                <a:pathLst>
                  <a:path w="1786000" h="1392837">
                    <a:moveTo>
                      <a:pt x="893000" y="1392837"/>
                    </a:moveTo>
                    <a:lnTo>
                      <a:pt x="1786000" y="696418"/>
                    </a:lnTo>
                    <a:lnTo>
                      <a:pt x="893000" y="0"/>
                    </a:lnTo>
                    <a:lnTo>
                      <a:pt x="0" y="696418"/>
                    </a:lnTo>
                    <a:lnTo>
                      <a:pt x="893000" y="1392837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" name="Text 605"/>
              <p:cNvSpPr txBox="1"/>
              <p:nvPr/>
            </p:nvSpPr>
            <p:spPr>
              <a:xfrm>
                <a:off x="4455105" y="4214421"/>
                <a:ext cx="1786000" cy="83296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判断A、B是否为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“</a:t>
                </a: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晴”与“多云</a:t>
                </a: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”、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“</a:t>
                </a: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多云”与“阴</a:t>
                </a: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”、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或</a:t>
                </a: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“</a:t>
                </a: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阴”与“小雨</a:t>
                </a:r>
                <a:r>
                  <a:rPr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”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6" name="Flowchart Shapes"/>
            <p:cNvGrpSpPr/>
            <p:nvPr/>
          </p:nvGrpSpPr>
          <p:grpSpPr>
            <a:xfrm>
              <a:off x="7743631" y="998271"/>
              <a:ext cx="1531879" cy="448400"/>
              <a:chOff x="7743631" y="998271"/>
              <a:chExt cx="1531879" cy="448400"/>
            </a:xfrm>
          </p:grpSpPr>
          <p:sp>
            <p:nvSpPr>
              <p:cNvPr id="247" name="任意多边形: 形状 246"/>
              <p:cNvSpPr/>
              <p:nvPr/>
            </p:nvSpPr>
            <p:spPr>
              <a:xfrm>
                <a:off x="7743631" y="998271"/>
                <a:ext cx="1531879" cy="448400"/>
              </a:xfrm>
              <a:custGeom>
                <a:avLst/>
                <a:gdLst/>
                <a:ahLst/>
                <a:cxnLst/>
                <a:rect l="0" t="0" r="0" b="0"/>
                <a:pathLst>
                  <a:path w="1531879" h="448400">
                    <a:moveTo>
                      <a:pt x="1531879" y="448400"/>
                    </a:moveTo>
                    <a:lnTo>
                      <a:pt x="1531879" y="0"/>
                    </a:lnTo>
                    <a:lnTo>
                      <a:pt x="0" y="0"/>
                    </a:lnTo>
                    <a:lnTo>
                      <a:pt x="0" y="448400"/>
                    </a:lnTo>
                    <a:lnTo>
                      <a:pt x="1531879" y="4484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6" name="Text 606"/>
              <p:cNvSpPr txBox="1"/>
              <p:nvPr/>
            </p:nvSpPr>
            <p:spPr>
              <a:xfrm>
                <a:off x="7743631" y="1043111"/>
                <a:ext cx="1531879" cy="3587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天气现象编码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299" name="Flowchart Shapes"/>
            <p:cNvGrpSpPr/>
            <p:nvPr/>
          </p:nvGrpSpPr>
          <p:grpSpPr>
            <a:xfrm>
              <a:off x="7682846" y="78670"/>
              <a:ext cx="1958740" cy="619400"/>
              <a:chOff x="7682846" y="78670"/>
              <a:chExt cx="1958740" cy="619400"/>
            </a:xfrm>
          </p:grpSpPr>
          <p:sp>
            <p:nvSpPr>
              <p:cNvPr id="303" name="任意多边形: 形状 302"/>
              <p:cNvSpPr/>
              <p:nvPr/>
            </p:nvSpPr>
            <p:spPr>
              <a:xfrm>
                <a:off x="7682846" y="78670"/>
                <a:ext cx="1958740" cy="619400"/>
              </a:xfrm>
              <a:custGeom>
                <a:avLst/>
                <a:gdLst/>
                <a:ahLst/>
                <a:cxnLst/>
                <a:rect l="0" t="0" r="0" b="0"/>
                <a:pathLst>
                  <a:path w="1958740" h="619400">
                    <a:moveTo>
                      <a:pt x="-154850" y="619400"/>
                    </a:moveTo>
                    <a:lnTo>
                      <a:pt x="1494190" y="619400"/>
                    </a:lnTo>
                    <a:lnTo>
                      <a:pt x="1803890" y="0"/>
                    </a:lnTo>
                    <a:lnTo>
                      <a:pt x="154850" y="0"/>
                    </a:lnTo>
                    <a:lnTo>
                      <a:pt x="-154850" y="6194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7" name="Text 607"/>
              <p:cNvSpPr txBox="1"/>
              <p:nvPr/>
            </p:nvSpPr>
            <p:spPr>
              <a:xfrm>
                <a:off x="7682846" y="50931"/>
                <a:ext cx="1649040" cy="67488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12h时段内天气现象的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综合电码：KAABB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或 KBBAA 或 KAAAA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306" name="ConnectLine"/>
            <p:cNvSpPr/>
            <p:nvPr/>
          </p:nvSpPr>
          <p:spPr>
            <a:xfrm>
              <a:off x="8509612" y="998271"/>
              <a:ext cx="7600" cy="300200"/>
            </a:xfrm>
            <a:custGeom>
              <a:avLst/>
              <a:gdLst/>
              <a:ahLst/>
              <a:cxnLst/>
              <a:rect l="0" t="0" r="0" b="0"/>
              <a:pathLst>
                <a:path w="7600" h="300200" fill="none">
                  <a:moveTo>
                    <a:pt x="0" y="0"/>
                  </a:moveTo>
                  <a:lnTo>
                    <a:pt x="0" y="-178600"/>
                  </a:lnTo>
                  <a:lnTo>
                    <a:pt x="-2219" y="-3002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6" name="Flowchart Shapes"/>
            <p:cNvGrpSpPr/>
            <p:nvPr/>
          </p:nvGrpSpPr>
          <p:grpSpPr>
            <a:xfrm>
              <a:off x="317754" y="641070"/>
              <a:ext cx="1958976" cy="615600"/>
              <a:chOff x="317754" y="641070"/>
              <a:chExt cx="1958976" cy="615600"/>
            </a:xfrm>
          </p:grpSpPr>
          <p:sp>
            <p:nvSpPr>
              <p:cNvPr id="337" name="任意多边形: 形状 336"/>
              <p:cNvSpPr/>
              <p:nvPr/>
            </p:nvSpPr>
            <p:spPr>
              <a:xfrm>
                <a:off x="317754" y="641070"/>
                <a:ext cx="1958976" cy="615600"/>
              </a:xfrm>
              <a:custGeom>
                <a:avLst/>
                <a:gdLst/>
                <a:ahLst/>
                <a:cxnLst/>
                <a:rect l="0" t="0" r="0" b="0"/>
                <a:pathLst>
                  <a:path w="1958976" h="615600">
                    <a:moveTo>
                      <a:pt x="1958976" y="615600"/>
                    </a:moveTo>
                    <a:lnTo>
                      <a:pt x="1958976" y="0"/>
                    </a:lnTo>
                    <a:lnTo>
                      <a:pt x="0" y="0"/>
                    </a:lnTo>
                    <a:lnTo>
                      <a:pt x="0" y="615600"/>
                    </a:lnTo>
                    <a:lnTo>
                      <a:pt x="1958976" y="6156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8" name="Text 608"/>
              <p:cNvSpPr txBox="1"/>
              <p:nvPr/>
            </p:nvSpPr>
            <p:spPr>
              <a:xfrm>
                <a:off x="317754" y="660070"/>
                <a:ext cx="1958976" cy="5776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选择12h内“出现”的影响级最高的天气现象A</a:t>
                </a:r>
                <a:endParaRPr sz="99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0" name="Flowchart Shapes"/>
            <p:cNvGrpSpPr/>
            <p:nvPr/>
          </p:nvGrpSpPr>
          <p:grpSpPr>
            <a:xfrm>
              <a:off x="317644" y="1461383"/>
              <a:ext cx="1958976" cy="616134"/>
              <a:chOff x="317644" y="1461383"/>
              <a:chExt cx="1958976" cy="616134"/>
            </a:xfrm>
          </p:grpSpPr>
          <p:sp>
            <p:nvSpPr>
              <p:cNvPr id="343" name="任意多边形: 形状 342"/>
              <p:cNvSpPr/>
              <p:nvPr/>
            </p:nvSpPr>
            <p:spPr>
              <a:xfrm>
                <a:off x="317644" y="1461383"/>
                <a:ext cx="1958976" cy="616134"/>
              </a:xfrm>
              <a:custGeom>
                <a:avLst/>
                <a:gdLst/>
                <a:ahLst/>
                <a:cxnLst/>
                <a:rect l="0" t="0" r="0" b="0"/>
                <a:pathLst>
                  <a:path w="1618800" h="714400">
                    <a:moveTo>
                      <a:pt x="1618800" y="714400"/>
                    </a:moveTo>
                    <a:lnTo>
                      <a:pt x="1618800" y="0"/>
                    </a:lnTo>
                    <a:lnTo>
                      <a:pt x="0" y="0"/>
                    </a:lnTo>
                    <a:lnTo>
                      <a:pt x="0" y="714400"/>
                    </a:lnTo>
                    <a:lnTo>
                      <a:pt x="1618800" y="7144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9" name="Text 609"/>
              <p:cNvSpPr txBox="1"/>
              <p:nvPr/>
            </p:nvSpPr>
            <p:spPr>
              <a:xfrm>
                <a:off x="357179" y="1492288"/>
                <a:ext cx="1863605" cy="498298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其它12h内“出现”的</a:t>
                </a:r>
                <a:endParaRPr lang="en-US" sz="99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990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</a:t>
                </a:r>
                <a:r>
                  <a:rPr lang="zh-CN" altLang="en-US" sz="990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按照</a:t>
                </a:r>
                <a:r>
                  <a:rPr sz="990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影响级排序</a:t>
                </a:r>
                <a:endParaRPr sz="990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9" name="Flowchart Shapes"/>
            <p:cNvGrpSpPr/>
            <p:nvPr/>
          </p:nvGrpSpPr>
          <p:grpSpPr>
            <a:xfrm>
              <a:off x="401354" y="2282671"/>
              <a:ext cx="1979876" cy="395200"/>
              <a:chOff x="401354" y="2282671"/>
              <a:chExt cx="1979876" cy="395200"/>
            </a:xfrm>
          </p:grpSpPr>
          <p:sp>
            <p:nvSpPr>
              <p:cNvPr id="363" name="任意多边形: 形状 362"/>
              <p:cNvSpPr/>
              <p:nvPr/>
            </p:nvSpPr>
            <p:spPr>
              <a:xfrm>
                <a:off x="401354" y="2282671"/>
                <a:ext cx="1979876" cy="395200"/>
              </a:xfrm>
              <a:custGeom>
                <a:avLst/>
                <a:gdLst/>
                <a:ahLst/>
                <a:cxnLst/>
                <a:rect l="0" t="0" r="0" b="0"/>
                <a:pathLst>
                  <a:path w="1979876" h="395200">
                    <a:moveTo>
                      <a:pt x="-98800" y="395200"/>
                    </a:moveTo>
                    <a:lnTo>
                      <a:pt x="1683476" y="395200"/>
                    </a:lnTo>
                    <a:lnTo>
                      <a:pt x="1881076" y="0"/>
                    </a:lnTo>
                    <a:lnTo>
                      <a:pt x="98800" y="0"/>
                    </a:lnTo>
                    <a:lnTo>
                      <a:pt x="-98800" y="395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0" name="Text 610"/>
              <p:cNvSpPr txBox="1"/>
              <p:nvPr/>
            </p:nvSpPr>
            <p:spPr>
              <a:xfrm>
                <a:off x="401354" y="2221871"/>
                <a:ext cx="1782276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待选12h天气现象列表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（共有n个天气现象）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74" name="Flowchart Shapes"/>
            <p:cNvGrpSpPr/>
            <p:nvPr/>
          </p:nvGrpSpPr>
          <p:grpSpPr>
            <a:xfrm>
              <a:off x="922030" y="2845067"/>
              <a:ext cx="741000" cy="208732"/>
              <a:chOff x="922030" y="2845067"/>
              <a:chExt cx="741000" cy="208732"/>
            </a:xfrm>
          </p:grpSpPr>
          <p:sp>
            <p:nvSpPr>
              <p:cNvPr id="375" name="任意多边形: 形状 374"/>
              <p:cNvSpPr/>
              <p:nvPr/>
            </p:nvSpPr>
            <p:spPr>
              <a:xfrm>
                <a:off x="922030" y="2845067"/>
                <a:ext cx="741000" cy="208732"/>
              </a:xfrm>
              <a:custGeom>
                <a:avLst/>
                <a:gdLst/>
                <a:ahLst/>
                <a:cxnLst/>
                <a:rect l="0" t="0" r="0" b="0"/>
                <a:pathLst>
                  <a:path w="741000" h="208732">
                    <a:moveTo>
                      <a:pt x="741000" y="208732"/>
                    </a:moveTo>
                    <a:lnTo>
                      <a:pt x="741000" y="0"/>
                    </a:lnTo>
                    <a:lnTo>
                      <a:pt x="0" y="0"/>
                    </a:lnTo>
                    <a:lnTo>
                      <a:pt x="0" y="208732"/>
                    </a:lnTo>
                    <a:lnTo>
                      <a:pt x="741000" y="208732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1" name="Text 611"/>
              <p:cNvSpPr txBox="1"/>
              <p:nvPr/>
            </p:nvSpPr>
            <p:spPr>
              <a:xfrm>
                <a:off x="922030" y="2754874"/>
                <a:ext cx="741000" cy="3891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i=1</a:t>
                </a:r>
                <a:endParaRPr sz="99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81" name="Flowchart Shapes"/>
            <p:cNvGrpSpPr/>
            <p:nvPr/>
          </p:nvGrpSpPr>
          <p:grpSpPr>
            <a:xfrm>
              <a:off x="481230" y="3848271"/>
              <a:ext cx="1618800" cy="516800"/>
              <a:chOff x="481230" y="3848271"/>
              <a:chExt cx="1618800" cy="516800"/>
            </a:xfrm>
          </p:grpSpPr>
          <p:sp>
            <p:nvSpPr>
              <p:cNvPr id="382" name="任意多边形: 形状 381"/>
              <p:cNvSpPr/>
              <p:nvPr/>
            </p:nvSpPr>
            <p:spPr>
              <a:xfrm>
                <a:off x="481230" y="3848271"/>
                <a:ext cx="1618800" cy="516800"/>
              </a:xfrm>
              <a:custGeom>
                <a:avLst/>
                <a:gdLst/>
                <a:ahLst/>
                <a:cxnLst/>
                <a:rect l="0" t="0" r="0" b="0"/>
                <a:pathLst>
                  <a:path w="1618800" h="516800">
                    <a:moveTo>
                      <a:pt x="1618800" y="516800"/>
                    </a:moveTo>
                    <a:lnTo>
                      <a:pt x="1618800" y="0"/>
                    </a:lnTo>
                    <a:lnTo>
                      <a:pt x="0" y="0"/>
                    </a:lnTo>
                    <a:lnTo>
                      <a:pt x="0" y="516800"/>
                    </a:lnTo>
                    <a:lnTo>
                      <a:pt x="1618800" y="5168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2" name="Text 612"/>
              <p:cNvSpPr txBox="1"/>
              <p:nvPr/>
            </p:nvSpPr>
            <p:spPr>
              <a:xfrm>
                <a:off x="481230" y="3817871"/>
                <a:ext cx="1618800" cy="5776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选择待选天气现象列表中第i个天气现象</a:t>
                </a:r>
                <a:endParaRPr sz="99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88" name="Flowchart Shapes"/>
            <p:cNvGrpSpPr/>
            <p:nvPr/>
          </p:nvGrpSpPr>
          <p:grpSpPr>
            <a:xfrm>
              <a:off x="678830" y="4536336"/>
              <a:ext cx="1421200" cy="395200"/>
              <a:chOff x="678830" y="4536336"/>
              <a:chExt cx="1421200" cy="395200"/>
            </a:xfrm>
          </p:grpSpPr>
          <p:sp>
            <p:nvSpPr>
              <p:cNvPr id="392" name="任意多边形: 形状 391"/>
              <p:cNvSpPr/>
              <p:nvPr/>
            </p:nvSpPr>
            <p:spPr>
              <a:xfrm>
                <a:off x="678830" y="4536336"/>
                <a:ext cx="1421200" cy="395200"/>
              </a:xfrm>
              <a:custGeom>
                <a:avLst/>
                <a:gdLst/>
                <a:ahLst/>
                <a:cxnLst/>
                <a:rect l="0" t="0" r="0" b="0"/>
                <a:pathLst>
                  <a:path w="1421200" h="395200">
                    <a:moveTo>
                      <a:pt x="-98800" y="395200"/>
                    </a:moveTo>
                    <a:lnTo>
                      <a:pt x="1124800" y="395200"/>
                    </a:lnTo>
                    <a:lnTo>
                      <a:pt x="1322400" y="0"/>
                    </a:lnTo>
                    <a:lnTo>
                      <a:pt x="98800" y="0"/>
                    </a:lnTo>
                    <a:lnTo>
                      <a:pt x="-98800" y="395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3" name="Text 613"/>
              <p:cNvSpPr txBox="1"/>
              <p:nvPr/>
            </p:nvSpPr>
            <p:spPr>
              <a:xfrm>
                <a:off x="678830" y="4554576"/>
                <a:ext cx="1223600" cy="3587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天气现象i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02" name="Flowchart Shapes"/>
            <p:cNvGrpSpPr/>
            <p:nvPr/>
          </p:nvGrpSpPr>
          <p:grpSpPr>
            <a:xfrm>
              <a:off x="486892" y="5087603"/>
              <a:ext cx="1607476" cy="760000"/>
              <a:chOff x="486892" y="5087603"/>
              <a:chExt cx="1607476" cy="760000"/>
            </a:xfrm>
          </p:grpSpPr>
          <p:sp>
            <p:nvSpPr>
              <p:cNvPr id="404" name="任意多边形: 形状 403"/>
              <p:cNvSpPr/>
              <p:nvPr/>
            </p:nvSpPr>
            <p:spPr>
              <a:xfrm>
                <a:off x="486892" y="5087603"/>
                <a:ext cx="1607476" cy="760000"/>
              </a:xfrm>
              <a:custGeom>
                <a:avLst/>
                <a:gdLst/>
                <a:ahLst/>
                <a:cxnLst/>
                <a:rect l="0" t="0" r="0" b="0"/>
                <a:pathLst>
                  <a:path w="1607476" h="760000">
                    <a:moveTo>
                      <a:pt x="803738" y="760000"/>
                    </a:moveTo>
                    <a:lnTo>
                      <a:pt x="1607476" y="380000"/>
                    </a:lnTo>
                    <a:lnTo>
                      <a:pt x="803738" y="0"/>
                    </a:lnTo>
                    <a:lnTo>
                      <a:pt x="0" y="380000"/>
                    </a:lnTo>
                    <a:lnTo>
                      <a:pt x="803738" y="7600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" name="Text 614"/>
              <p:cNvSpPr txBox="1"/>
              <p:nvPr/>
            </p:nvSpPr>
            <p:spPr>
              <a:xfrm>
                <a:off x="486892" y="5130163"/>
                <a:ext cx="1607476" cy="67488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天气现象i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与天气现象A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是否互斥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17" name="Flowchart Shapes"/>
            <p:cNvGrpSpPr/>
            <p:nvPr/>
          </p:nvGrpSpPr>
          <p:grpSpPr>
            <a:xfrm>
              <a:off x="237734" y="6090270"/>
              <a:ext cx="2105793" cy="995600"/>
              <a:chOff x="237734" y="6090270"/>
              <a:chExt cx="2105793" cy="995600"/>
            </a:xfrm>
          </p:grpSpPr>
          <p:sp>
            <p:nvSpPr>
              <p:cNvPr id="419" name="任意多边形: 形状 418"/>
              <p:cNvSpPr/>
              <p:nvPr/>
            </p:nvSpPr>
            <p:spPr>
              <a:xfrm>
                <a:off x="237734" y="6090270"/>
                <a:ext cx="2105793" cy="995600"/>
              </a:xfrm>
              <a:custGeom>
                <a:avLst/>
                <a:gdLst/>
                <a:ahLst/>
                <a:cxnLst/>
                <a:rect l="0" t="0" r="0" b="0"/>
                <a:pathLst>
                  <a:path w="2105793" h="995600">
                    <a:moveTo>
                      <a:pt x="1052896" y="995600"/>
                    </a:moveTo>
                    <a:lnTo>
                      <a:pt x="2105793" y="497800"/>
                    </a:lnTo>
                    <a:lnTo>
                      <a:pt x="1052896" y="0"/>
                    </a:lnTo>
                    <a:lnTo>
                      <a:pt x="0" y="497800"/>
                    </a:lnTo>
                    <a:lnTo>
                      <a:pt x="1052896" y="9956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" name="Text 615"/>
              <p:cNvSpPr txBox="1"/>
              <p:nvPr/>
            </p:nvSpPr>
            <p:spPr>
              <a:xfrm>
                <a:off x="237734" y="6171591"/>
                <a:ext cx="2105793" cy="83296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天气现象i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与天气现象A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是否存在不</a:t>
                </a: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同的</a:t>
                </a:r>
                <a:endParaRPr lang="en-US" altLang="zh-CN"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单独出现时间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4" name="Flowchart Shapes"/>
            <p:cNvGrpSpPr/>
            <p:nvPr/>
          </p:nvGrpSpPr>
          <p:grpSpPr>
            <a:xfrm>
              <a:off x="-256046" y="5368803"/>
              <a:ext cx="539600" cy="212800"/>
              <a:chOff x="-256046" y="5368803"/>
              <a:chExt cx="539600" cy="212800"/>
            </a:xfrm>
          </p:grpSpPr>
          <p:sp>
            <p:nvSpPr>
              <p:cNvPr id="425" name="任意多边形: 形状 424"/>
              <p:cNvSpPr/>
              <p:nvPr/>
            </p:nvSpPr>
            <p:spPr>
              <a:xfrm>
                <a:off x="-256046" y="5368803"/>
                <a:ext cx="539600" cy="212800"/>
              </a:xfrm>
              <a:custGeom>
                <a:avLst/>
                <a:gdLst/>
                <a:ahLst/>
                <a:cxnLst/>
                <a:rect l="0" t="0" r="0" b="0"/>
                <a:pathLst>
                  <a:path w="539600" h="212800">
                    <a:moveTo>
                      <a:pt x="539600" y="212800"/>
                    </a:moveTo>
                    <a:lnTo>
                      <a:pt x="539600" y="0"/>
                    </a:lnTo>
                    <a:lnTo>
                      <a:pt x="0" y="0"/>
                    </a:lnTo>
                    <a:lnTo>
                      <a:pt x="0" y="212800"/>
                    </a:lnTo>
                    <a:lnTo>
                      <a:pt x="539600" y="2128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" name="Text 616"/>
              <p:cNvSpPr txBox="1"/>
              <p:nvPr/>
            </p:nvSpPr>
            <p:spPr>
              <a:xfrm>
                <a:off x="-256046" y="5280642"/>
                <a:ext cx="539600" cy="3891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i=i+1</a:t>
                </a:r>
                <a:endParaRPr sz="99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31" name="Flowchart Shapes"/>
            <p:cNvGrpSpPr/>
            <p:nvPr/>
          </p:nvGrpSpPr>
          <p:grpSpPr>
            <a:xfrm>
              <a:off x="2575030" y="6390470"/>
              <a:ext cx="1421200" cy="395200"/>
              <a:chOff x="2575030" y="6390470"/>
              <a:chExt cx="1421200" cy="395200"/>
            </a:xfrm>
          </p:grpSpPr>
          <p:sp>
            <p:nvSpPr>
              <p:cNvPr id="435" name="任意多边形: 形状 434"/>
              <p:cNvSpPr/>
              <p:nvPr/>
            </p:nvSpPr>
            <p:spPr>
              <a:xfrm>
                <a:off x="2575030" y="6390470"/>
                <a:ext cx="1421200" cy="395200"/>
              </a:xfrm>
              <a:custGeom>
                <a:avLst/>
                <a:gdLst/>
                <a:ahLst/>
                <a:cxnLst/>
                <a:rect l="0" t="0" r="0" b="0"/>
                <a:pathLst>
                  <a:path w="1421200" h="395200">
                    <a:moveTo>
                      <a:pt x="-98800" y="395200"/>
                    </a:moveTo>
                    <a:lnTo>
                      <a:pt x="1124800" y="395200"/>
                    </a:lnTo>
                    <a:lnTo>
                      <a:pt x="1322400" y="0"/>
                    </a:lnTo>
                    <a:lnTo>
                      <a:pt x="98800" y="0"/>
                    </a:lnTo>
                    <a:lnTo>
                      <a:pt x="-98800" y="395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" name="Text 617"/>
              <p:cNvSpPr txBox="1"/>
              <p:nvPr/>
            </p:nvSpPr>
            <p:spPr>
              <a:xfrm>
                <a:off x="2575030" y="6408710"/>
                <a:ext cx="1223600" cy="3587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天气现象B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445" name="ConnectLine"/>
            <p:cNvSpPr/>
            <p:nvPr/>
          </p:nvSpPr>
          <p:spPr>
            <a:xfrm>
              <a:off x="1292488" y="2677872"/>
              <a:ext cx="7600" cy="167197"/>
            </a:xfrm>
            <a:custGeom>
              <a:avLst/>
              <a:gdLst/>
              <a:ahLst/>
              <a:cxnLst/>
              <a:rect l="0" t="0" r="0" b="0"/>
              <a:pathLst>
                <a:path w="7600" h="167197" fill="none">
                  <a:moveTo>
                    <a:pt x="0" y="0"/>
                  </a:moveTo>
                  <a:lnTo>
                    <a:pt x="38" y="167197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ConnectLine"/>
            <p:cNvSpPr/>
            <p:nvPr/>
          </p:nvSpPr>
          <p:spPr>
            <a:xfrm>
              <a:off x="1290630" y="4365067"/>
              <a:ext cx="7600" cy="171266"/>
            </a:xfrm>
            <a:custGeom>
              <a:avLst/>
              <a:gdLst/>
              <a:ahLst/>
              <a:cxnLst/>
              <a:rect l="0" t="0" r="0" b="0"/>
              <a:pathLst>
                <a:path w="7600" h="171266" fill="none">
                  <a:moveTo>
                    <a:pt x="0" y="0"/>
                  </a:moveTo>
                  <a:lnTo>
                    <a:pt x="0" y="171266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ConnectLine"/>
            <p:cNvSpPr/>
            <p:nvPr/>
          </p:nvSpPr>
          <p:spPr>
            <a:xfrm>
              <a:off x="1290630" y="4931540"/>
              <a:ext cx="7600" cy="156066"/>
            </a:xfrm>
            <a:custGeom>
              <a:avLst/>
              <a:gdLst/>
              <a:ahLst/>
              <a:cxnLst/>
              <a:rect l="0" t="0" r="0" b="0"/>
              <a:pathLst>
                <a:path w="7600" h="156066" fill="none">
                  <a:moveTo>
                    <a:pt x="0" y="0"/>
                  </a:moveTo>
                  <a:lnTo>
                    <a:pt x="0" y="156066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ConnectLine"/>
            <p:cNvSpPr/>
            <p:nvPr/>
          </p:nvSpPr>
          <p:spPr>
            <a:xfrm>
              <a:off x="486888" y="5467603"/>
              <a:ext cx="203338" cy="7600"/>
            </a:xfrm>
            <a:custGeom>
              <a:avLst/>
              <a:gdLst/>
              <a:ahLst/>
              <a:cxnLst/>
              <a:rect l="0" t="0" r="0" b="0"/>
              <a:pathLst>
                <a:path w="203338" h="7600" fill="none">
                  <a:moveTo>
                    <a:pt x="0" y="0"/>
                  </a:moveTo>
                  <a:lnTo>
                    <a:pt x="-203338" y="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9" name="Flowchart Shapes"/>
            <p:cNvGrpSpPr/>
            <p:nvPr/>
          </p:nvGrpSpPr>
          <p:grpSpPr>
            <a:xfrm>
              <a:off x="894935" y="3243797"/>
              <a:ext cx="799429" cy="377963"/>
              <a:chOff x="894935" y="3243797"/>
              <a:chExt cx="799429" cy="377963"/>
            </a:xfrm>
          </p:grpSpPr>
          <p:sp>
            <p:nvSpPr>
              <p:cNvPr id="371" name="任意多边形: 形状 370"/>
              <p:cNvSpPr/>
              <p:nvPr/>
            </p:nvSpPr>
            <p:spPr>
              <a:xfrm>
                <a:off x="894935" y="3243797"/>
                <a:ext cx="799429" cy="377963"/>
              </a:xfrm>
              <a:custGeom>
                <a:avLst/>
                <a:gdLst/>
                <a:ahLst/>
                <a:cxnLst/>
                <a:rect l="0" t="0" r="0" b="0"/>
                <a:pathLst>
                  <a:path w="799429" h="377963">
                    <a:moveTo>
                      <a:pt x="399715" y="377963"/>
                    </a:moveTo>
                    <a:lnTo>
                      <a:pt x="799429" y="188982"/>
                    </a:lnTo>
                    <a:lnTo>
                      <a:pt x="399715" y="0"/>
                    </a:lnTo>
                    <a:lnTo>
                      <a:pt x="0" y="188982"/>
                    </a:lnTo>
                    <a:lnTo>
                      <a:pt x="399715" y="377963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Text 618"/>
              <p:cNvSpPr txBox="1"/>
              <p:nvPr/>
            </p:nvSpPr>
            <p:spPr>
              <a:xfrm>
                <a:off x="894935" y="3250378"/>
                <a:ext cx="799429" cy="364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Times New Roman" panose="02020603050405020304"/>
                  </a:rPr>
                  <a:t>i &gt; n</a:t>
                </a:r>
                <a:endParaRPr sz="865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p:grpSp>
        <p:sp>
          <p:nvSpPr>
            <p:cNvPr id="397" name="ConnectLine"/>
            <p:cNvSpPr/>
            <p:nvPr/>
          </p:nvSpPr>
          <p:spPr>
            <a:xfrm>
              <a:off x="1292526" y="3053798"/>
              <a:ext cx="7600" cy="189997"/>
            </a:xfrm>
            <a:custGeom>
              <a:avLst/>
              <a:gdLst/>
              <a:ahLst/>
              <a:cxnLst/>
              <a:rect l="0" t="0" r="0" b="0"/>
              <a:pathLst>
                <a:path w="7600" h="189997" fill="none">
                  <a:moveTo>
                    <a:pt x="0" y="0"/>
                  </a:moveTo>
                  <a:lnTo>
                    <a:pt x="0" y="68397"/>
                  </a:lnTo>
                  <a:lnTo>
                    <a:pt x="2120" y="189997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3" name="Flowchart Shapes"/>
            <p:cNvGrpSpPr/>
            <p:nvPr/>
          </p:nvGrpSpPr>
          <p:grpSpPr>
            <a:xfrm>
              <a:off x="2202558" y="2651134"/>
              <a:ext cx="1120886" cy="596600"/>
              <a:chOff x="2202558" y="2651134"/>
              <a:chExt cx="1120886" cy="596600"/>
            </a:xfrm>
          </p:grpSpPr>
          <p:sp>
            <p:nvSpPr>
              <p:cNvPr id="446" name="任意多边形: 形状 445"/>
              <p:cNvSpPr/>
              <p:nvPr/>
            </p:nvSpPr>
            <p:spPr>
              <a:xfrm>
                <a:off x="2202558" y="2651134"/>
                <a:ext cx="1120886" cy="596600"/>
              </a:xfrm>
              <a:custGeom>
                <a:avLst/>
                <a:gdLst/>
                <a:ahLst/>
                <a:cxnLst/>
                <a:rect l="0" t="0" r="0" b="0"/>
                <a:pathLst>
                  <a:path w="1120886" h="596600">
                    <a:moveTo>
                      <a:pt x="-149150" y="596600"/>
                    </a:moveTo>
                    <a:lnTo>
                      <a:pt x="673436" y="596600"/>
                    </a:lnTo>
                    <a:lnTo>
                      <a:pt x="971736" y="0"/>
                    </a:lnTo>
                    <a:lnTo>
                      <a:pt x="149150" y="0"/>
                    </a:lnTo>
                    <a:lnTo>
                      <a:pt x="-149150" y="5966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" name="Text 619"/>
              <p:cNvSpPr txBox="1"/>
              <p:nvPr/>
            </p:nvSpPr>
            <p:spPr>
              <a:xfrm>
                <a:off x="2202558" y="2660634"/>
                <a:ext cx="822586" cy="5776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单一天气现象A</a:t>
                </a:r>
                <a:endParaRPr sz="99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453" name="ConnectLine"/>
            <p:cNvSpPr/>
            <p:nvPr/>
          </p:nvSpPr>
          <p:spPr>
            <a:xfrm>
              <a:off x="1294647" y="3621760"/>
              <a:ext cx="7600" cy="226510"/>
            </a:xfrm>
            <a:custGeom>
              <a:avLst/>
              <a:gdLst/>
              <a:ahLst/>
              <a:cxnLst/>
              <a:rect l="0" t="0" r="0" b="0"/>
              <a:pathLst>
                <a:path w="7600" h="226510" fill="none">
                  <a:moveTo>
                    <a:pt x="0" y="0"/>
                  </a:moveTo>
                  <a:lnTo>
                    <a:pt x="0" y="104910"/>
                  </a:lnTo>
                  <a:lnTo>
                    <a:pt x="-4020" y="22651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ConnectLine"/>
            <p:cNvSpPr/>
            <p:nvPr/>
          </p:nvSpPr>
          <p:spPr>
            <a:xfrm>
              <a:off x="13750" y="5361203"/>
              <a:ext cx="1280896" cy="2239006"/>
            </a:xfrm>
            <a:custGeom>
              <a:avLst/>
              <a:gdLst/>
              <a:ahLst/>
              <a:cxnLst/>
              <a:rect l="0" t="0" r="0" b="0"/>
              <a:pathLst>
                <a:path w="1280896" h="2239006" fill="none">
                  <a:moveTo>
                    <a:pt x="0" y="0"/>
                  </a:moveTo>
                  <a:lnTo>
                    <a:pt x="0" y="-2239006"/>
                  </a:lnTo>
                  <a:lnTo>
                    <a:pt x="1280896" y="-2239006"/>
                  </a:lnTo>
                  <a:lnTo>
                    <a:pt x="1280896" y="-2117406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ConnectLine"/>
            <p:cNvSpPr/>
            <p:nvPr/>
          </p:nvSpPr>
          <p:spPr>
            <a:xfrm>
              <a:off x="1290630" y="5847603"/>
              <a:ext cx="7600" cy="242668"/>
            </a:xfrm>
            <a:custGeom>
              <a:avLst/>
              <a:gdLst/>
              <a:ahLst/>
              <a:cxnLst/>
              <a:rect l="0" t="0" r="0" b="0"/>
              <a:pathLst>
                <a:path w="7600" h="242668" fill="none">
                  <a:moveTo>
                    <a:pt x="0" y="0"/>
                  </a:moveTo>
                  <a:lnTo>
                    <a:pt x="0" y="242668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" name="ConnectLine"/>
            <p:cNvSpPr/>
            <p:nvPr/>
          </p:nvSpPr>
          <p:spPr>
            <a:xfrm>
              <a:off x="237738" y="6588070"/>
              <a:ext cx="223980" cy="1006468"/>
            </a:xfrm>
            <a:custGeom>
              <a:avLst/>
              <a:gdLst/>
              <a:ahLst/>
              <a:cxnLst/>
              <a:rect l="0" t="0" r="0" b="0"/>
              <a:pathLst>
                <a:path w="223980" h="1006468" fill="none">
                  <a:moveTo>
                    <a:pt x="0" y="0"/>
                  </a:moveTo>
                  <a:lnTo>
                    <a:pt x="-223980" y="0"/>
                  </a:lnTo>
                  <a:lnTo>
                    <a:pt x="-223980" y="-1006468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" name="ConnectLine"/>
            <p:cNvSpPr/>
            <p:nvPr/>
          </p:nvSpPr>
          <p:spPr>
            <a:xfrm>
              <a:off x="2343523" y="6588070"/>
              <a:ext cx="231504" cy="7600"/>
            </a:xfrm>
            <a:custGeom>
              <a:avLst/>
              <a:gdLst/>
              <a:ahLst/>
              <a:cxnLst/>
              <a:rect l="0" t="0" r="0" b="0"/>
              <a:pathLst>
                <a:path w="231504" h="7600" fill="none">
                  <a:moveTo>
                    <a:pt x="0" y="0"/>
                  </a:moveTo>
                  <a:lnTo>
                    <a:pt x="231504" y="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6" name="Flowchart Shapes"/>
            <p:cNvGrpSpPr/>
            <p:nvPr/>
          </p:nvGrpSpPr>
          <p:grpSpPr>
            <a:xfrm>
              <a:off x="2430554" y="33070"/>
              <a:ext cx="1368076" cy="661200"/>
              <a:chOff x="2430554" y="33070"/>
              <a:chExt cx="1368076" cy="661200"/>
            </a:xfrm>
          </p:grpSpPr>
          <p:sp>
            <p:nvSpPr>
              <p:cNvPr id="459" name="任意多边形: 形状 458"/>
              <p:cNvSpPr/>
              <p:nvPr/>
            </p:nvSpPr>
            <p:spPr>
              <a:xfrm>
                <a:off x="2430554" y="33070"/>
                <a:ext cx="1368076" cy="661200"/>
              </a:xfrm>
              <a:custGeom>
                <a:avLst/>
                <a:gdLst/>
                <a:ahLst/>
                <a:cxnLst/>
                <a:rect l="0" t="0" r="0" b="0"/>
                <a:pathLst>
                  <a:path w="1368076" h="661200">
                    <a:moveTo>
                      <a:pt x="1368076" y="661200"/>
                    </a:moveTo>
                    <a:lnTo>
                      <a:pt x="1368076" y="0"/>
                    </a:lnTo>
                    <a:lnTo>
                      <a:pt x="0" y="0"/>
                    </a:lnTo>
                    <a:lnTo>
                      <a:pt x="0" y="661200"/>
                    </a:lnTo>
                    <a:lnTo>
                      <a:pt x="1368076" y="661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Text 620"/>
              <p:cNvSpPr txBox="1"/>
              <p:nvPr/>
            </p:nvSpPr>
            <p:spPr>
              <a:xfrm>
                <a:off x="2430554" y="105270"/>
                <a:ext cx="1368076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天气现象A和B作为12h时段内天气现象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498" name="ConnectLine"/>
            <p:cNvSpPr/>
            <p:nvPr/>
          </p:nvSpPr>
          <p:spPr>
            <a:xfrm>
              <a:off x="3186826" y="6390470"/>
              <a:ext cx="592762" cy="5696200"/>
            </a:xfrm>
            <a:custGeom>
              <a:avLst/>
              <a:gdLst/>
              <a:ahLst/>
              <a:cxnLst/>
              <a:rect l="0" t="0" r="0" b="0"/>
              <a:pathLst>
                <a:path w="592762" h="5696200" fill="none">
                  <a:moveTo>
                    <a:pt x="0" y="0"/>
                  </a:moveTo>
                  <a:lnTo>
                    <a:pt x="0" y="-1344250"/>
                  </a:lnTo>
                  <a:lnTo>
                    <a:pt x="520524" y="-1344250"/>
                  </a:lnTo>
                  <a:lnTo>
                    <a:pt x="520524" y="-5040936"/>
                  </a:lnTo>
                  <a:lnTo>
                    <a:pt x="-72238" y="-5040936"/>
                  </a:lnTo>
                  <a:lnTo>
                    <a:pt x="-72238" y="-56962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1" name="Text 621"/>
            <p:cNvSpPr txBox="1"/>
            <p:nvPr/>
          </p:nvSpPr>
          <p:spPr>
            <a:xfrm>
              <a:off x="5060154" y="2411871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2" name="Text 622"/>
            <p:cNvSpPr txBox="1"/>
            <p:nvPr/>
          </p:nvSpPr>
          <p:spPr>
            <a:xfrm>
              <a:off x="2373630" y="6181470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3" name="Text 623"/>
            <p:cNvSpPr txBox="1"/>
            <p:nvPr/>
          </p:nvSpPr>
          <p:spPr>
            <a:xfrm>
              <a:off x="1714330" y="3095871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4" name="Text 624"/>
            <p:cNvSpPr txBox="1"/>
            <p:nvPr/>
          </p:nvSpPr>
          <p:spPr>
            <a:xfrm>
              <a:off x="237734" y="5072403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5" name="Text 625"/>
            <p:cNvSpPr txBox="1"/>
            <p:nvPr/>
          </p:nvSpPr>
          <p:spPr>
            <a:xfrm>
              <a:off x="-5246" y="6181470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6" name="Text 626"/>
            <p:cNvSpPr txBox="1"/>
            <p:nvPr/>
          </p:nvSpPr>
          <p:spPr>
            <a:xfrm>
              <a:off x="1298230" y="5695070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7" name="Text 627"/>
            <p:cNvSpPr txBox="1"/>
            <p:nvPr/>
          </p:nvSpPr>
          <p:spPr>
            <a:xfrm>
              <a:off x="1313430" y="3479397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516" name="Flowchart Shapes"/>
            <p:cNvGrpSpPr/>
            <p:nvPr/>
          </p:nvGrpSpPr>
          <p:grpSpPr>
            <a:xfrm>
              <a:off x="6549773" y="3108289"/>
              <a:ext cx="1033562" cy="393163"/>
              <a:chOff x="6549773" y="3108289"/>
              <a:chExt cx="1033562" cy="393163"/>
            </a:xfrm>
          </p:grpSpPr>
          <p:sp>
            <p:nvSpPr>
              <p:cNvPr id="517" name="任意多边形: 形状 516"/>
              <p:cNvSpPr/>
              <p:nvPr/>
            </p:nvSpPr>
            <p:spPr>
              <a:xfrm>
                <a:off x="6549773" y="3108289"/>
                <a:ext cx="1033562" cy="393163"/>
              </a:xfrm>
              <a:custGeom>
                <a:avLst/>
                <a:gdLst/>
                <a:ahLst/>
                <a:cxnLst/>
                <a:rect l="0" t="0" r="0" b="0"/>
                <a:pathLst>
                  <a:path w="1033562" h="393163">
                    <a:moveTo>
                      <a:pt x="1033562" y="393163"/>
                    </a:moveTo>
                    <a:lnTo>
                      <a:pt x="1033562" y="0"/>
                    </a:lnTo>
                    <a:lnTo>
                      <a:pt x="0" y="0"/>
                    </a:lnTo>
                    <a:lnTo>
                      <a:pt x="0" y="393163"/>
                    </a:lnTo>
                    <a:lnTo>
                      <a:pt x="1033562" y="393163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8" name="Text 628"/>
              <p:cNvSpPr txBox="1"/>
              <p:nvPr/>
            </p:nvSpPr>
            <p:spPr>
              <a:xfrm>
                <a:off x="6549773" y="3046470"/>
                <a:ext cx="1033562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判断为“伴有”逻辑关系</a:t>
                </a:r>
                <a:endParaRPr lang="zh-CN" altLang="en-US"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29" name="Text 629"/>
            <p:cNvSpPr txBox="1"/>
            <p:nvPr/>
          </p:nvSpPr>
          <p:spPr>
            <a:xfrm>
              <a:off x="5037354" y="3612671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438" name="Flowchart Shapes"/>
            <p:cNvGrpSpPr/>
            <p:nvPr/>
          </p:nvGrpSpPr>
          <p:grpSpPr>
            <a:xfrm>
              <a:off x="150630" y="-301330"/>
              <a:ext cx="1436400" cy="288800"/>
              <a:chOff x="150630" y="-301330"/>
              <a:chExt cx="1436400" cy="288800"/>
            </a:xfrm>
          </p:grpSpPr>
          <p:sp>
            <p:nvSpPr>
              <p:cNvPr id="439" name="任意多边形: 形状 438"/>
              <p:cNvSpPr/>
              <p:nvPr/>
            </p:nvSpPr>
            <p:spPr>
              <a:xfrm>
                <a:off x="150630" y="-301330"/>
                <a:ext cx="1436400" cy="288800"/>
              </a:xfrm>
              <a:custGeom>
                <a:avLst/>
                <a:gdLst/>
                <a:ahLst/>
                <a:cxnLst/>
                <a:rect l="0" t="0" r="0" b="0"/>
                <a:pathLst>
                  <a:path w="1436400" h="288800">
                    <a:moveTo>
                      <a:pt x="1436400" y="288800"/>
                    </a:moveTo>
                    <a:lnTo>
                      <a:pt x="1436400" y="0"/>
                    </a:lnTo>
                    <a:lnTo>
                      <a:pt x="0" y="0"/>
                    </a:lnTo>
                    <a:lnTo>
                      <a:pt x="0" y="288800"/>
                    </a:lnTo>
                    <a:lnTo>
                      <a:pt x="1436400" y="288800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solidFill>
                  <a:srgbClr val="FFFFFF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0" name="Text 630"/>
              <p:cNvSpPr txBox="1"/>
              <p:nvPr/>
            </p:nvSpPr>
            <p:spPr>
              <a:xfrm>
                <a:off x="150630" y="-384930"/>
                <a:ext cx="1436400" cy="4560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1235">
                    <a:solidFill>
                      <a:srgbClr val="000000"/>
                    </a:solidFill>
                    <a:latin typeface="Times New Roman" panose="02020603050405020304"/>
                  </a:rPr>
                  <a:t>天气现象生成</a:t>
                </a:r>
                <a:endParaRPr sz="1235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p:grpSp>
        <p:grpSp>
          <p:nvGrpSpPr>
            <p:cNvPr id="452" name="Flowchart Shapes"/>
            <p:cNvGrpSpPr/>
            <p:nvPr/>
          </p:nvGrpSpPr>
          <p:grpSpPr>
            <a:xfrm>
              <a:off x="4291072" y="1604507"/>
              <a:ext cx="5123844" cy="5542156"/>
              <a:chOff x="4291072" y="1604507"/>
              <a:chExt cx="5123844" cy="5542156"/>
            </a:xfrm>
          </p:grpSpPr>
          <p:sp>
            <p:nvSpPr>
              <p:cNvPr id="457" name="任意多边形: 形状 456"/>
              <p:cNvSpPr/>
              <p:nvPr/>
            </p:nvSpPr>
            <p:spPr>
              <a:xfrm>
                <a:off x="4291072" y="1604507"/>
                <a:ext cx="5123844" cy="5542156"/>
              </a:xfrm>
              <a:custGeom>
                <a:avLst/>
                <a:gdLst/>
                <a:ahLst/>
                <a:cxnLst/>
                <a:rect l="0" t="0" r="0" b="0"/>
                <a:pathLst>
                  <a:path w="5123844" h="5542156">
                    <a:moveTo>
                      <a:pt x="5123844" y="5542156"/>
                    </a:moveTo>
                    <a:lnTo>
                      <a:pt x="5123844" y="0"/>
                    </a:lnTo>
                    <a:lnTo>
                      <a:pt x="0" y="0"/>
                    </a:lnTo>
                    <a:lnTo>
                      <a:pt x="0" y="5542156"/>
                    </a:lnTo>
                    <a:lnTo>
                      <a:pt x="5123844" y="5542156"/>
                    </a:lnTo>
                    <a:close/>
                  </a:path>
                </a:pathLst>
              </a:custGeom>
              <a:noFill/>
              <a:ln w="20267" cap="flat">
                <a:solidFill>
                  <a:srgbClr val="000000"/>
                </a:solidFill>
                <a:custDash>
                  <a:ds d="1100000" sp="500000"/>
                </a:custDash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2" name="Flowchart Shapes"/>
            <p:cNvGrpSpPr/>
            <p:nvPr/>
          </p:nvGrpSpPr>
          <p:grpSpPr>
            <a:xfrm>
              <a:off x="5804970" y="1332671"/>
              <a:ext cx="1451570" cy="536560"/>
              <a:chOff x="5804970" y="1332671"/>
              <a:chExt cx="1451570" cy="536560"/>
            </a:xfrm>
          </p:grpSpPr>
          <p:sp>
            <p:nvSpPr>
              <p:cNvPr id="473" name="任意多边形: 形状 472"/>
              <p:cNvSpPr/>
              <p:nvPr/>
            </p:nvSpPr>
            <p:spPr>
              <a:xfrm>
                <a:off x="5804970" y="1332671"/>
                <a:ext cx="1451570" cy="536560"/>
              </a:xfrm>
              <a:custGeom>
                <a:avLst/>
                <a:gdLst/>
                <a:ahLst/>
                <a:cxnLst/>
                <a:rect l="0" t="0" r="0" b="0"/>
                <a:pathLst>
                  <a:path w="1451570" h="536560">
                    <a:moveTo>
                      <a:pt x="1451570" y="536560"/>
                    </a:moveTo>
                    <a:lnTo>
                      <a:pt x="1451570" y="0"/>
                    </a:lnTo>
                    <a:lnTo>
                      <a:pt x="0" y="0"/>
                    </a:lnTo>
                    <a:lnTo>
                      <a:pt x="0" y="536560"/>
                    </a:lnTo>
                    <a:lnTo>
                      <a:pt x="1451570" y="536560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solidFill>
                  <a:srgbClr val="FFFFFF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1" name="Text 631"/>
              <p:cNvSpPr txBox="1"/>
              <p:nvPr/>
            </p:nvSpPr>
            <p:spPr>
              <a:xfrm>
                <a:off x="5804970" y="1372951"/>
                <a:ext cx="1451570" cy="4560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1235">
                    <a:solidFill>
                      <a:srgbClr val="000000"/>
                    </a:solidFill>
                    <a:latin typeface="Times New Roman" panose="02020603050405020304"/>
                  </a:rPr>
                  <a:t>天气现象表述</a:t>
                </a:r>
                <a:endParaRPr sz="1235">
                  <a:solidFill>
                    <a:srgbClr val="000000"/>
                  </a:solidFill>
                  <a:latin typeface="Times New Roman" panose="02020603050405020304"/>
                </a:endParaRPr>
              </a:p>
            </p:txBody>
          </p:sp>
        </p:grpSp>
        <p:grpSp>
          <p:nvGrpSpPr>
            <p:cNvPr id="480" name="Flowchart Shapes"/>
            <p:cNvGrpSpPr/>
            <p:nvPr/>
          </p:nvGrpSpPr>
          <p:grpSpPr>
            <a:xfrm>
              <a:off x="4425433" y="2845071"/>
              <a:ext cx="1801443" cy="927200"/>
              <a:chOff x="4425433" y="2845071"/>
              <a:chExt cx="1801443" cy="927200"/>
            </a:xfrm>
          </p:grpSpPr>
          <p:sp>
            <p:nvSpPr>
              <p:cNvPr id="483" name="任意多边形: 形状 482"/>
              <p:cNvSpPr/>
              <p:nvPr/>
            </p:nvSpPr>
            <p:spPr>
              <a:xfrm>
                <a:off x="4425433" y="2845071"/>
                <a:ext cx="1801443" cy="927200"/>
              </a:xfrm>
              <a:custGeom>
                <a:avLst/>
                <a:gdLst/>
                <a:ahLst/>
                <a:cxnLst/>
                <a:rect l="0" t="0" r="0" b="0"/>
                <a:pathLst>
                  <a:path w="1801443" h="927200">
                    <a:moveTo>
                      <a:pt x="900722" y="927200"/>
                    </a:moveTo>
                    <a:lnTo>
                      <a:pt x="1801443" y="463600"/>
                    </a:lnTo>
                    <a:lnTo>
                      <a:pt x="900722" y="0"/>
                    </a:lnTo>
                    <a:lnTo>
                      <a:pt x="0" y="463600"/>
                    </a:lnTo>
                    <a:lnTo>
                      <a:pt x="900722" y="927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2" name="Text 632"/>
              <p:cNvSpPr txBox="1"/>
              <p:nvPr/>
            </p:nvSpPr>
            <p:spPr>
              <a:xfrm>
                <a:off x="4425433" y="2971231"/>
                <a:ext cx="1801443" cy="67488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判断A、B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是否为“雾”和“霾”的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等级预报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90" name="Flowchart Shapes"/>
            <p:cNvGrpSpPr/>
            <p:nvPr/>
          </p:nvGrpSpPr>
          <p:grpSpPr>
            <a:xfrm>
              <a:off x="4429271" y="5596802"/>
              <a:ext cx="1801443" cy="798000"/>
              <a:chOff x="4429271" y="5596802"/>
              <a:chExt cx="1801443" cy="798000"/>
            </a:xfrm>
          </p:grpSpPr>
          <p:sp>
            <p:nvSpPr>
              <p:cNvPr id="492" name="任意多边形: 形状 491"/>
              <p:cNvSpPr/>
              <p:nvPr/>
            </p:nvSpPr>
            <p:spPr>
              <a:xfrm>
                <a:off x="4429271" y="5596802"/>
                <a:ext cx="1801443" cy="798000"/>
              </a:xfrm>
              <a:custGeom>
                <a:avLst/>
                <a:gdLst/>
                <a:ahLst/>
                <a:cxnLst/>
                <a:rect l="0" t="0" r="0" b="0"/>
                <a:pathLst>
                  <a:path w="1801443" h="798000">
                    <a:moveTo>
                      <a:pt x="900722" y="798000"/>
                    </a:moveTo>
                    <a:lnTo>
                      <a:pt x="1801443" y="399001"/>
                    </a:lnTo>
                    <a:lnTo>
                      <a:pt x="900722" y="0"/>
                    </a:lnTo>
                    <a:lnTo>
                      <a:pt x="0" y="399001"/>
                    </a:lnTo>
                    <a:lnTo>
                      <a:pt x="900722" y="7980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3" name="Text 633"/>
              <p:cNvSpPr txBox="1"/>
              <p:nvPr/>
            </p:nvSpPr>
            <p:spPr>
              <a:xfrm>
                <a:off x="4429271" y="5737403"/>
                <a:ext cx="1801443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A和B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是否</a:t>
                </a: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交替</a:t>
                </a:r>
                <a:r>
                  <a:rPr sz="865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出现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97" name="Flowchart Shapes"/>
            <p:cNvGrpSpPr/>
            <p:nvPr/>
          </p:nvGrpSpPr>
          <p:grpSpPr>
            <a:xfrm>
              <a:off x="6549792" y="6474070"/>
              <a:ext cx="989900" cy="395200"/>
              <a:chOff x="6549792" y="6474070"/>
              <a:chExt cx="989900" cy="395200"/>
            </a:xfrm>
          </p:grpSpPr>
          <p:sp>
            <p:nvSpPr>
              <p:cNvPr id="499" name="任意多边形: 形状 498"/>
              <p:cNvSpPr/>
              <p:nvPr/>
            </p:nvSpPr>
            <p:spPr>
              <a:xfrm>
                <a:off x="6549792" y="6474070"/>
                <a:ext cx="989900" cy="395200"/>
              </a:xfrm>
              <a:custGeom>
                <a:avLst/>
                <a:gdLst/>
                <a:ahLst/>
                <a:cxnLst/>
                <a:rect l="0" t="0" r="0" b="0"/>
                <a:pathLst>
                  <a:path w="989900" h="395200">
                    <a:moveTo>
                      <a:pt x="989900" y="395200"/>
                    </a:moveTo>
                    <a:lnTo>
                      <a:pt x="989900" y="0"/>
                    </a:lnTo>
                    <a:lnTo>
                      <a:pt x="0" y="0"/>
                    </a:lnTo>
                    <a:lnTo>
                      <a:pt x="0" y="395200"/>
                    </a:lnTo>
                    <a:lnTo>
                      <a:pt x="989900" y="395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" name="Text 634"/>
              <p:cNvSpPr txBox="1"/>
              <p:nvPr/>
            </p:nvSpPr>
            <p:spPr>
              <a:xfrm>
                <a:off x="6549792" y="6413270"/>
                <a:ext cx="989900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判断为“间”逻辑关系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05" name="Flowchart Shapes"/>
            <p:cNvGrpSpPr/>
            <p:nvPr/>
          </p:nvGrpSpPr>
          <p:grpSpPr>
            <a:xfrm>
              <a:off x="6549792" y="4456270"/>
              <a:ext cx="989900" cy="395200"/>
              <a:chOff x="6549792" y="4456270"/>
              <a:chExt cx="989900" cy="395200"/>
            </a:xfrm>
          </p:grpSpPr>
          <p:sp>
            <p:nvSpPr>
              <p:cNvPr id="506" name="任意多边形: 形状 505"/>
              <p:cNvSpPr/>
              <p:nvPr/>
            </p:nvSpPr>
            <p:spPr>
              <a:xfrm>
                <a:off x="6549792" y="4456270"/>
                <a:ext cx="989900" cy="395200"/>
              </a:xfrm>
              <a:custGeom>
                <a:avLst/>
                <a:gdLst/>
                <a:ahLst/>
                <a:cxnLst/>
                <a:rect l="0" t="0" r="0" b="0"/>
                <a:pathLst>
                  <a:path w="989900" h="395200">
                    <a:moveTo>
                      <a:pt x="989900" y="395200"/>
                    </a:moveTo>
                    <a:lnTo>
                      <a:pt x="989900" y="0"/>
                    </a:lnTo>
                    <a:lnTo>
                      <a:pt x="0" y="0"/>
                    </a:lnTo>
                    <a:lnTo>
                      <a:pt x="0" y="395200"/>
                    </a:lnTo>
                    <a:lnTo>
                      <a:pt x="989900" y="395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" name="Text 635"/>
              <p:cNvSpPr txBox="1"/>
              <p:nvPr/>
            </p:nvSpPr>
            <p:spPr>
              <a:xfrm>
                <a:off x="6549792" y="4395470"/>
                <a:ext cx="989900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判断为“转”逻辑关系</a:t>
                </a:r>
                <a:endParaRPr lang="zh-CN" altLang="en-US"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27" name="ConnectLine"/>
            <p:cNvSpPr/>
            <p:nvPr/>
          </p:nvSpPr>
          <p:spPr>
            <a:xfrm>
              <a:off x="5329996" y="2518271"/>
              <a:ext cx="7600" cy="326800"/>
            </a:xfrm>
            <a:custGeom>
              <a:avLst/>
              <a:gdLst/>
              <a:ahLst/>
              <a:cxnLst/>
              <a:rect l="0" t="0" r="0" b="0"/>
              <a:pathLst>
                <a:path w="7600" h="326800" fill="none">
                  <a:moveTo>
                    <a:pt x="0" y="0"/>
                  </a:moveTo>
                  <a:lnTo>
                    <a:pt x="0" y="205200"/>
                  </a:lnTo>
                  <a:lnTo>
                    <a:pt x="-3838" y="3268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" name="ConnectLine"/>
            <p:cNvSpPr/>
            <p:nvPr/>
          </p:nvSpPr>
          <p:spPr>
            <a:xfrm>
              <a:off x="5326154" y="3772270"/>
              <a:ext cx="7600" cy="180363"/>
            </a:xfrm>
            <a:custGeom>
              <a:avLst/>
              <a:gdLst/>
              <a:ahLst/>
              <a:cxnLst/>
              <a:rect l="0" t="0" r="0" b="0"/>
              <a:pathLst>
                <a:path w="7600" h="180363" fill="none">
                  <a:moveTo>
                    <a:pt x="0" y="0"/>
                  </a:moveTo>
                  <a:lnTo>
                    <a:pt x="0" y="180363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9" name="ConnectLine"/>
            <p:cNvSpPr/>
            <p:nvPr/>
          </p:nvSpPr>
          <p:spPr>
            <a:xfrm>
              <a:off x="5329958" y="5345470"/>
              <a:ext cx="7600" cy="251332"/>
            </a:xfrm>
            <a:custGeom>
              <a:avLst/>
              <a:gdLst/>
              <a:ahLst/>
              <a:cxnLst/>
              <a:rect l="0" t="0" r="0" b="0"/>
              <a:pathLst>
                <a:path w="7600" h="251332" fill="none">
                  <a:moveTo>
                    <a:pt x="0" y="0"/>
                  </a:moveTo>
                  <a:lnTo>
                    <a:pt x="38" y="251332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ConnectLine"/>
            <p:cNvSpPr/>
            <p:nvPr/>
          </p:nvSpPr>
          <p:spPr>
            <a:xfrm>
              <a:off x="6226887" y="3308671"/>
              <a:ext cx="322886" cy="7600"/>
            </a:xfrm>
            <a:custGeom>
              <a:avLst/>
              <a:gdLst/>
              <a:ahLst/>
              <a:cxnLst/>
              <a:rect l="0" t="0" r="0" b="0"/>
              <a:pathLst>
                <a:path w="322886" h="7600" fill="none">
                  <a:moveTo>
                    <a:pt x="0" y="0"/>
                  </a:moveTo>
                  <a:lnTo>
                    <a:pt x="17009" y="0"/>
                  </a:lnTo>
                  <a:lnTo>
                    <a:pt x="322886" y="-38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ConnectLine"/>
            <p:cNvSpPr/>
            <p:nvPr/>
          </p:nvSpPr>
          <p:spPr>
            <a:xfrm>
              <a:off x="6222954" y="4649052"/>
              <a:ext cx="326800" cy="7600"/>
            </a:xfrm>
            <a:custGeom>
              <a:avLst/>
              <a:gdLst/>
              <a:ahLst/>
              <a:cxnLst/>
              <a:rect l="0" t="0" r="0" b="0"/>
              <a:pathLst>
                <a:path w="326800" h="7600" fill="none">
                  <a:moveTo>
                    <a:pt x="0" y="0"/>
                  </a:moveTo>
                  <a:lnTo>
                    <a:pt x="19000" y="0"/>
                  </a:lnTo>
                  <a:lnTo>
                    <a:pt x="326800" y="4818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ConnectLine"/>
            <p:cNvSpPr/>
            <p:nvPr/>
          </p:nvSpPr>
          <p:spPr>
            <a:xfrm>
              <a:off x="6230691" y="5995803"/>
              <a:ext cx="813990" cy="1144332"/>
            </a:xfrm>
            <a:custGeom>
              <a:avLst/>
              <a:gdLst/>
              <a:ahLst/>
              <a:cxnLst/>
              <a:rect l="0" t="0" r="0" b="0"/>
              <a:pathLst>
                <a:path w="813990" h="1144332" fill="none">
                  <a:moveTo>
                    <a:pt x="0" y="0"/>
                  </a:moveTo>
                  <a:lnTo>
                    <a:pt x="813990" y="0"/>
                  </a:lnTo>
                  <a:lnTo>
                    <a:pt x="813990" y="-1144332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ConnectLine"/>
            <p:cNvSpPr/>
            <p:nvPr/>
          </p:nvSpPr>
          <p:spPr>
            <a:xfrm>
              <a:off x="7539692" y="4653870"/>
              <a:ext cx="969946" cy="1683674"/>
            </a:xfrm>
            <a:custGeom>
              <a:avLst/>
              <a:gdLst/>
              <a:ahLst/>
              <a:cxnLst/>
              <a:rect l="0" t="0" r="0" b="0"/>
              <a:pathLst>
                <a:path w="969946" h="1683674" fill="none">
                  <a:moveTo>
                    <a:pt x="0" y="0"/>
                  </a:moveTo>
                  <a:lnTo>
                    <a:pt x="0" y="-15200"/>
                  </a:lnTo>
                  <a:lnTo>
                    <a:pt x="969946" y="-15200"/>
                  </a:lnTo>
                  <a:lnTo>
                    <a:pt x="969946" y="-1683674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ConnectLine"/>
            <p:cNvSpPr/>
            <p:nvPr/>
          </p:nvSpPr>
          <p:spPr>
            <a:xfrm>
              <a:off x="5329996" y="6394803"/>
              <a:ext cx="1219762" cy="276868"/>
            </a:xfrm>
            <a:custGeom>
              <a:avLst/>
              <a:gdLst/>
              <a:ahLst/>
              <a:cxnLst/>
              <a:rect l="0" t="0" r="0" b="0"/>
              <a:pathLst>
                <a:path w="1219762" h="276868" fill="none">
                  <a:moveTo>
                    <a:pt x="0" y="0"/>
                  </a:moveTo>
                  <a:lnTo>
                    <a:pt x="0" y="276868"/>
                  </a:lnTo>
                  <a:lnTo>
                    <a:pt x="1219762" y="276868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6" name="Text 636"/>
            <p:cNvSpPr txBox="1"/>
            <p:nvPr/>
          </p:nvSpPr>
          <p:spPr>
            <a:xfrm>
              <a:off x="6260954" y="2936271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7" name="Text 637"/>
            <p:cNvSpPr txBox="1"/>
            <p:nvPr/>
          </p:nvSpPr>
          <p:spPr>
            <a:xfrm>
              <a:off x="5060154" y="5201070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 dirty="0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8" name="Text 638"/>
            <p:cNvSpPr txBox="1"/>
            <p:nvPr/>
          </p:nvSpPr>
          <p:spPr>
            <a:xfrm>
              <a:off x="5827754" y="6322070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是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9" name="Text 639"/>
            <p:cNvSpPr txBox="1"/>
            <p:nvPr/>
          </p:nvSpPr>
          <p:spPr>
            <a:xfrm>
              <a:off x="6102091" y="1725091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 dirty="0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0" name="Text 640"/>
            <p:cNvSpPr txBox="1"/>
            <p:nvPr/>
          </p:nvSpPr>
          <p:spPr>
            <a:xfrm>
              <a:off x="6260954" y="5634803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7" name="ConnectLine"/>
            <p:cNvSpPr/>
            <p:nvPr/>
          </p:nvSpPr>
          <p:spPr>
            <a:xfrm>
              <a:off x="7539654" y="6671670"/>
              <a:ext cx="969946" cy="3701474"/>
            </a:xfrm>
            <a:custGeom>
              <a:avLst/>
              <a:gdLst/>
              <a:ahLst/>
              <a:cxnLst/>
              <a:rect l="0" t="0" r="0" b="0"/>
              <a:pathLst>
                <a:path w="969946" h="3701474" fill="none">
                  <a:moveTo>
                    <a:pt x="0" y="0"/>
                  </a:moveTo>
                  <a:lnTo>
                    <a:pt x="0" y="-26600"/>
                  </a:lnTo>
                  <a:lnTo>
                    <a:pt x="969946" y="-26600"/>
                  </a:lnTo>
                  <a:lnTo>
                    <a:pt x="969946" y="-3701474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1" name="Text 641"/>
            <p:cNvSpPr txBox="1"/>
            <p:nvPr/>
          </p:nvSpPr>
          <p:spPr>
            <a:xfrm>
              <a:off x="6260954" y="4319470"/>
              <a:ext cx="288800" cy="501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865">
                  <a:solidFill>
                    <a:srgbClr val="000000"/>
                  </a:solidFill>
                  <a:latin typeface="宋体" panose="02010600030101010101" pitchFamily="2" charset="-122"/>
                </a:rPr>
                <a:t>否</a:t>
              </a:r>
              <a:endParaRPr sz="865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8" name="ConnectLine"/>
            <p:cNvSpPr/>
            <p:nvPr/>
          </p:nvSpPr>
          <p:spPr>
            <a:xfrm>
              <a:off x="7583316" y="3304871"/>
              <a:ext cx="926212" cy="1858200"/>
            </a:xfrm>
            <a:custGeom>
              <a:avLst/>
              <a:gdLst/>
              <a:ahLst/>
              <a:cxnLst/>
              <a:rect l="0" t="0" r="0" b="0"/>
              <a:pathLst>
                <a:path w="926212" h="1858200" fill="none">
                  <a:moveTo>
                    <a:pt x="0" y="0"/>
                  </a:moveTo>
                  <a:lnTo>
                    <a:pt x="926212" y="0"/>
                  </a:lnTo>
                  <a:lnTo>
                    <a:pt x="926212" y="-18582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ConnectLine"/>
            <p:cNvSpPr/>
            <p:nvPr/>
          </p:nvSpPr>
          <p:spPr>
            <a:xfrm>
              <a:off x="8509638" y="2495471"/>
              <a:ext cx="7600" cy="1048800"/>
            </a:xfrm>
            <a:custGeom>
              <a:avLst/>
              <a:gdLst/>
              <a:ahLst/>
              <a:cxnLst/>
              <a:rect l="0" t="0" r="0" b="0"/>
              <a:pathLst>
                <a:path w="7600" h="1048800" fill="none">
                  <a:moveTo>
                    <a:pt x="0" y="0"/>
                  </a:moveTo>
                  <a:lnTo>
                    <a:pt x="-72" y="-10488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Flowchart Shapes"/>
            <p:cNvGrpSpPr/>
            <p:nvPr/>
          </p:nvGrpSpPr>
          <p:grpSpPr>
            <a:xfrm>
              <a:off x="7612857" y="948870"/>
              <a:ext cx="1793562" cy="547200"/>
              <a:chOff x="7612857" y="948870"/>
              <a:chExt cx="1793562" cy="547200"/>
            </a:xfrm>
          </p:grpSpPr>
          <p:sp>
            <p:nvSpPr>
              <p:cNvPr id="10" name="任意多边形: 形状 4"/>
              <p:cNvSpPr/>
              <p:nvPr/>
            </p:nvSpPr>
            <p:spPr>
              <a:xfrm>
                <a:off x="7612857" y="948870"/>
                <a:ext cx="1793562" cy="547200"/>
              </a:xfrm>
              <a:custGeom>
                <a:avLst/>
                <a:gdLst/>
                <a:ahLst/>
                <a:cxnLst/>
                <a:rect l="0" t="0" r="0" b="0"/>
                <a:pathLst>
                  <a:path w="1793562" h="547200">
                    <a:moveTo>
                      <a:pt x="1793562" y="547200"/>
                    </a:moveTo>
                    <a:lnTo>
                      <a:pt x="1793562" y="0"/>
                    </a:lnTo>
                    <a:lnTo>
                      <a:pt x="0" y="0"/>
                    </a:lnTo>
                    <a:lnTo>
                      <a:pt x="0" y="547200"/>
                    </a:lnTo>
                    <a:lnTo>
                      <a:pt x="1793562" y="547200"/>
                    </a:lnTo>
                    <a:close/>
                  </a:path>
                </a:pathLst>
              </a:custGeom>
              <a:noFill/>
              <a:ln w="20267" cap="flat">
                <a:solidFill>
                  <a:srgbClr val="000000"/>
                </a:solidFill>
                <a:custDash>
                  <a:ds d="1100000" sp="500000"/>
                </a:custDash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0" name="ConnectLine"/>
            <p:cNvSpPr/>
            <p:nvPr/>
          </p:nvSpPr>
          <p:spPr>
            <a:xfrm>
              <a:off x="1694363" y="3432778"/>
              <a:ext cx="919486" cy="185045"/>
            </a:xfrm>
            <a:custGeom>
              <a:avLst/>
              <a:gdLst/>
              <a:ahLst/>
              <a:cxnLst/>
              <a:rect l="0" t="0" r="0" b="0"/>
              <a:pathLst>
                <a:path w="919486" h="185045" fill="none">
                  <a:moveTo>
                    <a:pt x="0" y="0"/>
                  </a:moveTo>
                  <a:lnTo>
                    <a:pt x="919486" y="0"/>
                  </a:lnTo>
                  <a:lnTo>
                    <a:pt x="919486" y="-185045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5" name="Flowchart Shapes"/>
            <p:cNvGrpSpPr/>
            <p:nvPr/>
          </p:nvGrpSpPr>
          <p:grpSpPr>
            <a:xfrm>
              <a:off x="2575030" y="1663271"/>
              <a:ext cx="1138024" cy="376200"/>
              <a:chOff x="2575030" y="1663271"/>
              <a:chExt cx="1138024" cy="376200"/>
            </a:xfrm>
          </p:grpSpPr>
          <p:sp>
            <p:nvSpPr>
              <p:cNvPr id="582" name="任意多边形: 形状 581"/>
              <p:cNvSpPr/>
              <p:nvPr/>
            </p:nvSpPr>
            <p:spPr>
              <a:xfrm>
                <a:off x="2575030" y="1663271"/>
                <a:ext cx="1138024" cy="376200"/>
              </a:xfrm>
              <a:custGeom>
                <a:avLst/>
                <a:gdLst/>
                <a:ahLst/>
                <a:cxnLst/>
                <a:rect l="0" t="0" r="0" b="0"/>
                <a:pathLst>
                  <a:path w="1138024" h="376200">
                    <a:moveTo>
                      <a:pt x="-94050" y="376200"/>
                    </a:moveTo>
                    <a:lnTo>
                      <a:pt x="855874" y="376200"/>
                    </a:lnTo>
                    <a:lnTo>
                      <a:pt x="1043974" y="0"/>
                    </a:lnTo>
                    <a:lnTo>
                      <a:pt x="94050" y="0"/>
                    </a:lnTo>
                    <a:lnTo>
                      <a:pt x="-94050" y="37620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" name="Text 642"/>
              <p:cNvSpPr txBox="1"/>
              <p:nvPr/>
            </p:nvSpPr>
            <p:spPr>
              <a:xfrm>
                <a:off x="2575030" y="1656811"/>
                <a:ext cx="949924" cy="3891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99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天气现象A</a:t>
                </a:r>
                <a:endParaRPr sz="99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85" name="ConnectLine"/>
            <p:cNvSpPr/>
            <p:nvPr/>
          </p:nvSpPr>
          <p:spPr>
            <a:xfrm>
              <a:off x="2276730" y="948870"/>
              <a:ext cx="298300" cy="902500"/>
            </a:xfrm>
            <a:custGeom>
              <a:avLst/>
              <a:gdLst/>
              <a:ahLst/>
              <a:cxnLst/>
              <a:rect l="0" t="0" r="0" b="0"/>
              <a:pathLst>
                <a:path w="298300" h="902500" fill="none">
                  <a:moveTo>
                    <a:pt x="0" y="0"/>
                  </a:moveTo>
                  <a:lnTo>
                    <a:pt x="82650" y="0"/>
                  </a:lnTo>
                  <a:lnTo>
                    <a:pt x="82650" y="902500"/>
                  </a:lnTo>
                  <a:lnTo>
                    <a:pt x="298300" y="9025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ConnectLine"/>
            <p:cNvSpPr/>
            <p:nvPr/>
          </p:nvSpPr>
          <p:spPr>
            <a:xfrm>
              <a:off x="3049992" y="1663271"/>
              <a:ext cx="64600" cy="969000"/>
            </a:xfrm>
            <a:custGeom>
              <a:avLst/>
              <a:gdLst/>
              <a:ahLst/>
              <a:cxnLst/>
              <a:rect l="0" t="0" r="0" b="0"/>
              <a:pathLst>
                <a:path w="64600" h="969000" fill="none">
                  <a:moveTo>
                    <a:pt x="0" y="0"/>
                  </a:moveTo>
                  <a:lnTo>
                    <a:pt x="0" y="-307800"/>
                  </a:lnTo>
                  <a:lnTo>
                    <a:pt x="64600" y="-307800"/>
                  </a:lnTo>
                  <a:lnTo>
                    <a:pt x="64600" y="-9690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ConnectLine"/>
            <p:cNvSpPr/>
            <p:nvPr/>
          </p:nvSpPr>
          <p:spPr>
            <a:xfrm>
              <a:off x="3798630" y="363670"/>
              <a:ext cx="720024" cy="7600"/>
            </a:xfrm>
            <a:custGeom>
              <a:avLst/>
              <a:gdLst/>
              <a:ahLst/>
              <a:cxnLst/>
              <a:rect l="0" t="0" r="0" b="0"/>
              <a:pathLst>
                <a:path w="720024" h="7600" fill="none">
                  <a:moveTo>
                    <a:pt x="0" y="0"/>
                  </a:moveTo>
                  <a:lnTo>
                    <a:pt x="321024" y="0"/>
                  </a:lnTo>
                  <a:lnTo>
                    <a:pt x="720024" y="38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9" name="ConnectLine"/>
            <p:cNvSpPr/>
            <p:nvPr/>
          </p:nvSpPr>
          <p:spPr>
            <a:xfrm>
              <a:off x="3025144" y="2949434"/>
              <a:ext cx="1493514" cy="2581963"/>
            </a:xfrm>
            <a:custGeom>
              <a:avLst/>
              <a:gdLst/>
              <a:ahLst/>
              <a:cxnLst/>
              <a:rect l="0" t="0" r="0" b="0"/>
              <a:pathLst>
                <a:path w="1493514" h="2581963" fill="none">
                  <a:moveTo>
                    <a:pt x="0" y="0"/>
                  </a:moveTo>
                  <a:lnTo>
                    <a:pt x="636614" y="0"/>
                  </a:lnTo>
                  <a:cubicBezTo>
                    <a:pt x="636614" y="-25184"/>
                    <a:pt x="657030" y="-45600"/>
                    <a:pt x="682214" y="-45600"/>
                  </a:cubicBezTo>
                  <a:cubicBezTo>
                    <a:pt x="707398" y="-45600"/>
                    <a:pt x="727814" y="-25184"/>
                    <a:pt x="727814" y="0"/>
                  </a:cubicBezTo>
                  <a:lnTo>
                    <a:pt x="910214" y="0"/>
                  </a:lnTo>
                  <a:lnTo>
                    <a:pt x="910214" y="-2581963"/>
                  </a:lnTo>
                  <a:lnTo>
                    <a:pt x="1493514" y="-2581963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90" name="Flowchart Shapes"/>
            <p:cNvGrpSpPr/>
            <p:nvPr/>
          </p:nvGrpSpPr>
          <p:grpSpPr>
            <a:xfrm>
              <a:off x="6456655" y="1941688"/>
              <a:ext cx="670120" cy="393163"/>
              <a:chOff x="6456655" y="1941688"/>
              <a:chExt cx="670120" cy="393163"/>
            </a:xfrm>
          </p:grpSpPr>
          <p:sp>
            <p:nvSpPr>
              <p:cNvPr id="591" name="任意多边形: 形状 590"/>
              <p:cNvSpPr/>
              <p:nvPr/>
            </p:nvSpPr>
            <p:spPr>
              <a:xfrm>
                <a:off x="6456655" y="1941688"/>
                <a:ext cx="652611" cy="393163"/>
              </a:xfrm>
              <a:custGeom>
                <a:avLst/>
                <a:gdLst/>
                <a:ahLst/>
                <a:cxnLst/>
                <a:rect l="0" t="0" r="0" b="0"/>
                <a:pathLst>
                  <a:path w="989900" h="393163">
                    <a:moveTo>
                      <a:pt x="989900" y="393163"/>
                    </a:moveTo>
                    <a:lnTo>
                      <a:pt x="989900" y="0"/>
                    </a:lnTo>
                    <a:lnTo>
                      <a:pt x="0" y="0"/>
                    </a:lnTo>
                    <a:lnTo>
                      <a:pt x="0" y="393163"/>
                    </a:lnTo>
                    <a:lnTo>
                      <a:pt x="989900" y="393163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3" name="Text 643"/>
              <p:cNvSpPr txBox="1"/>
              <p:nvPr/>
            </p:nvSpPr>
            <p:spPr>
              <a:xfrm>
                <a:off x="6474164" y="1950302"/>
                <a:ext cx="652611" cy="35872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单一天气现象</a:t>
                </a:r>
                <a:r>
                  <a:rPr lang="en-US" altLang="zh-CN" sz="865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  <a:endParaRPr sz="865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98" name="ConnectLine"/>
            <p:cNvSpPr/>
            <p:nvPr/>
          </p:nvSpPr>
          <p:spPr>
            <a:xfrm flipV="1">
              <a:off x="6133768" y="2082002"/>
              <a:ext cx="322886" cy="56270"/>
            </a:xfrm>
            <a:custGeom>
              <a:avLst/>
              <a:gdLst/>
              <a:ahLst/>
              <a:cxnLst/>
              <a:rect l="0" t="0" r="0" b="0"/>
              <a:pathLst>
                <a:path w="733324" h="7600" fill="none">
                  <a:moveTo>
                    <a:pt x="0" y="0"/>
                  </a:moveTo>
                  <a:lnTo>
                    <a:pt x="733324" y="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ConnectLine"/>
            <p:cNvSpPr/>
            <p:nvPr/>
          </p:nvSpPr>
          <p:spPr>
            <a:xfrm>
              <a:off x="8076085" y="2138271"/>
              <a:ext cx="433444" cy="691600"/>
            </a:xfrm>
            <a:custGeom>
              <a:avLst/>
              <a:gdLst/>
              <a:ahLst/>
              <a:cxnLst/>
              <a:rect l="0" t="0" r="0" b="0"/>
              <a:pathLst>
                <a:path w="652612" h="691600" fill="none">
                  <a:moveTo>
                    <a:pt x="0" y="0"/>
                  </a:moveTo>
                  <a:lnTo>
                    <a:pt x="652612" y="0"/>
                  </a:lnTo>
                  <a:lnTo>
                    <a:pt x="652612" y="-691600"/>
                  </a:lnTo>
                </a:path>
              </a:pathLst>
            </a:custGeom>
            <a:noFill/>
            <a:ln w="15200" cap="flat">
              <a:solidFill>
                <a:srgbClr val="000000"/>
              </a:solidFill>
              <a:bevel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6" name="Flowchart Shapes"/>
            <p:cNvGrpSpPr/>
            <p:nvPr/>
          </p:nvGrpSpPr>
          <p:grpSpPr>
            <a:xfrm>
              <a:off x="7836088" y="2495470"/>
              <a:ext cx="1347100" cy="474726"/>
              <a:chOff x="7836088" y="2495470"/>
              <a:chExt cx="1347100" cy="474726"/>
            </a:xfrm>
          </p:grpSpPr>
          <p:sp>
            <p:nvSpPr>
              <p:cNvPr id="549" name="任意多边形: 形状 548"/>
              <p:cNvSpPr/>
              <p:nvPr/>
            </p:nvSpPr>
            <p:spPr>
              <a:xfrm>
                <a:off x="7836088" y="2495470"/>
                <a:ext cx="1347100" cy="474726"/>
              </a:xfrm>
              <a:custGeom>
                <a:avLst/>
                <a:gdLst/>
                <a:ahLst/>
                <a:cxnLst/>
                <a:rect l="0" t="0" r="0" b="0"/>
                <a:pathLst>
                  <a:path w="1347100" h="474726">
                    <a:moveTo>
                      <a:pt x="1347100" y="474726"/>
                    </a:moveTo>
                    <a:lnTo>
                      <a:pt x="1347100" y="0"/>
                    </a:lnTo>
                    <a:lnTo>
                      <a:pt x="0" y="0"/>
                    </a:lnTo>
                    <a:lnTo>
                      <a:pt x="0" y="474726"/>
                    </a:lnTo>
                    <a:lnTo>
                      <a:pt x="1347100" y="474726"/>
                    </a:lnTo>
                    <a:close/>
                  </a:path>
                </a:pathLst>
              </a:custGeom>
              <a:solidFill>
                <a:srgbClr val="FFFFFF"/>
              </a:solidFill>
              <a:ln w="7600" cap="flat">
                <a:solidFill>
                  <a:srgbClr val="000000"/>
                </a:solidFill>
                <a:beve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4" name="Text 644"/>
              <p:cNvSpPr txBox="1"/>
              <p:nvPr/>
            </p:nvSpPr>
            <p:spPr>
              <a:xfrm>
                <a:off x="7836088" y="2474434"/>
                <a:ext cx="1347100" cy="516800"/>
              </a:xfrm>
              <a:prstGeom prst="rect">
                <a:avLst/>
              </a:prstGeom>
              <a:noFill/>
            </p:spPr>
            <p:txBody>
              <a:bodyPr wrap="square" lIns="29250" tIns="0" rIns="2925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确定A、B电码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sz="865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AA、BB先后顺序</a:t>
                </a:r>
                <a:endParaRPr sz="865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内容占位符 6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725" y="159385"/>
            <a:ext cx="6539865" cy="65398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010400" y="352425"/>
            <a:ext cx="4980940" cy="1724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Step1 </a:t>
            </a:r>
            <a:r>
              <a:rPr lang="zh-CN" altLang="en-US"/>
              <a:t>属于 </a:t>
            </a:r>
            <a:r>
              <a:rPr lang="en-US" altLang="zh-CN"/>
              <a:t>cli </a:t>
            </a:r>
            <a:r>
              <a:rPr lang="zh-CN" altLang="en-US"/>
              <a:t>层职责，</a:t>
            </a:r>
            <a:r>
              <a:rPr lang="en-US" altLang="zh-CN"/>
              <a:t>Step2~5 </a:t>
            </a:r>
            <a:r>
              <a:rPr lang="zh-CN" altLang="en-US"/>
              <a:t>均在 </a:t>
            </a:r>
            <a:r>
              <a:rPr lang="en-US" altLang="zh-CN"/>
              <a:t>src </a:t>
            </a:r>
            <a:r>
              <a:rPr lang="zh-CN" altLang="en-US"/>
              <a:t>层完成，仅接收 </a:t>
            </a:r>
            <a:r>
              <a:rPr lang="en-US" altLang="zh-CN"/>
              <a:t>Step1 </a:t>
            </a:r>
            <a:r>
              <a:rPr lang="zh-CN" altLang="en-US"/>
              <a:t>产出的内存数据，不反过来调用任何数据加载接口。实际编排者为 </a:t>
            </a:r>
            <a:r>
              <a:rPr lang="en-US" altLang="zh-CN"/>
              <a:t>cli/runner.py </a:t>
            </a:r>
            <a:r>
              <a:rPr lang="zh-CN" altLang="en-US"/>
              <a:t>中的 </a:t>
            </a:r>
            <a:r>
              <a:rPr lang="en-US" altLang="zh-CN"/>
              <a:t>run_segment()，</a:t>
            </a:r>
            <a:r>
              <a:rPr lang="zh-CN" altLang="en-US"/>
              <a:t>它依次调用 </a:t>
            </a:r>
            <a:r>
              <a:rPr lang="en-US" altLang="zh-CN"/>
              <a:t>cli.data_loader.load_segment()</a:t>
            </a:r>
            <a:r>
              <a:rPr lang="zh-CN" altLang="en-US"/>
              <a:t>与 </a:t>
            </a:r>
            <a:r>
              <a:rPr lang="en-US" altLang="zh-CN"/>
              <a:t>src.processor.run_segment()。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19570" y="2228850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KAABB</a:t>
            </a:r>
            <a:endParaRPr lang="en-US" altLang="zh-CN"/>
          </a:p>
          <a:p>
            <a:r>
              <a:rPr lang="en-US" altLang="zh-CN"/>
              <a:t>  │││└─ BB: </a:t>
            </a:r>
            <a:r>
              <a:rPr lang="zh-CN" altLang="en-US"/>
              <a:t>后一天气现象电码 (00~37)</a:t>
            </a:r>
            <a:endParaRPr lang="zh-CN" altLang="en-US"/>
          </a:p>
          <a:p>
            <a:r>
              <a:rPr lang="en-US" altLang="zh-CN"/>
              <a:t>  ││└── AA: </a:t>
            </a:r>
            <a:r>
              <a:rPr lang="zh-CN" altLang="en-US"/>
              <a:t>前一天气现象电码 (00~37)</a:t>
            </a:r>
            <a:endParaRPr lang="zh-CN" altLang="en-US"/>
          </a:p>
          <a:p>
            <a:r>
              <a:rPr lang="en-US" altLang="zh-CN"/>
              <a:t>  │└─── K:  </a:t>
            </a:r>
            <a:r>
              <a:rPr lang="zh-CN" altLang="en-US"/>
              <a:t>逻辑关系电码</a:t>
            </a:r>
            <a:endParaRPr lang="zh-CN" altLang="en-US"/>
          </a:p>
          <a:p>
            <a:r>
              <a:rPr lang="zh-CN" altLang="en-US"/>
              <a:t>  │       0 = 单一现象 (</a:t>
            </a:r>
            <a:r>
              <a:rPr lang="en-US" altLang="zh-CN"/>
              <a:t>AA=BB)</a:t>
            </a:r>
            <a:endParaRPr lang="en-US" altLang="zh-CN"/>
          </a:p>
          <a:p>
            <a:r>
              <a:rPr lang="zh-CN" altLang="en-US"/>
              <a:t>  │       1 = 转 (</a:t>
            </a:r>
            <a:r>
              <a:rPr lang="en-US" altLang="zh-CN"/>
              <a:t>AA</a:t>
            </a:r>
            <a:r>
              <a:rPr lang="zh-CN" altLang="en-US"/>
              <a:t>转</a:t>
            </a:r>
            <a:r>
              <a:rPr lang="en-US" altLang="zh-CN"/>
              <a:t>BB)</a:t>
            </a:r>
            <a:endParaRPr lang="en-US" altLang="zh-CN"/>
          </a:p>
          <a:p>
            <a:r>
              <a:rPr lang="zh-CN" altLang="en-US"/>
              <a:t>  │       2 = 间 (</a:t>
            </a:r>
            <a:r>
              <a:rPr lang="en-US" altLang="zh-CN"/>
              <a:t>AA</a:t>
            </a:r>
            <a:r>
              <a:rPr lang="zh-CN" altLang="en-US"/>
              <a:t>间</a:t>
            </a:r>
            <a:r>
              <a:rPr lang="en-US" altLang="zh-CN"/>
              <a:t>BB)</a:t>
            </a:r>
            <a:endParaRPr lang="en-US" altLang="zh-CN"/>
          </a:p>
          <a:p>
            <a:r>
              <a:rPr lang="zh-CN" altLang="en-US"/>
              <a:t>  │       3 = 伴有 (</a:t>
            </a:r>
            <a:r>
              <a:rPr lang="en-US" altLang="zh-CN"/>
              <a:t>AA</a:t>
            </a:r>
            <a:r>
              <a:rPr lang="zh-CN" altLang="en-US"/>
              <a:t>伴有</a:t>
            </a:r>
            <a:r>
              <a:rPr lang="en-US" altLang="zh-CN"/>
              <a:t>BB)</a:t>
            </a:r>
            <a:endParaRPr lang="en-US" altLang="zh-CN"/>
          </a:p>
          <a:p>
            <a:r>
              <a:rPr lang="zh-CN" altLang="en-US"/>
              <a:t>  └──── 示例: 10207 → 阴转小雨, 00101 → 多云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570" y="4813300"/>
            <a:ext cx="5191125" cy="20097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分层职责边界（</a:t>
            </a:r>
            <a:r>
              <a:rPr lang="en-US" altLang="zh-CN"/>
              <a:t>cli </a:t>
            </a:r>
            <a:r>
              <a:rPr lang="zh-CN" altLang="en-US"/>
              <a:t>与 </a:t>
            </a:r>
            <a:r>
              <a:rPr lang="en-US" altLang="zh-CN"/>
              <a:t>src </a:t>
            </a:r>
            <a:r>
              <a:rPr lang="zh-CN" altLang="en-US"/>
              <a:t>严格解耦）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083945" y="1640840"/>
          <a:ext cx="10017760" cy="4716780"/>
        </p:xfrm>
        <a:graphic>
          <a:graphicData uri="http://schemas.openxmlformats.org/drawingml/2006/table">
            <a:tbl>
              <a:tblPr/>
              <a:tblGrid>
                <a:gridCol w="1258570"/>
                <a:gridCol w="2677160"/>
                <a:gridCol w="3577590"/>
                <a:gridCol w="2504440"/>
              </a:tblGrid>
              <a:tr h="358140">
                <a:tc>
                  <a:txBody>
                    <a:bodyPr/>
                    <a:p>
                      <a:pPr latinLnBrk="0"/>
                      <a:r>
                        <a:rPr lang="en-US" altLang="zh-CN" sz="1600" b="1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层级</a:t>
                      </a:r>
                      <a:endParaRPr lang="en-US" altLang="zh-CN" sz="1600" b="1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模块</a:t>
                      </a:r>
                      <a:endParaRPr lang="en-US" altLang="zh-CN" sz="1600" b="1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职责</a:t>
                      </a:r>
                      <a:endParaRPr lang="en-US" altLang="zh-CN" sz="1600" b="1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1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是否涉及文件I/O</a:t>
                      </a:r>
                      <a:endParaRPr lang="en-US" altLang="zh-CN" sz="1600" b="1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5820"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cli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9050" indent="0" latinLnBrk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cli/data_loader.py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读取NC文件，产出内存数据（data_dict/lat/lon）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是</a:t>
                      </a:r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（唯一入口）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5020"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cli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9050" indent="0" latinLnBrk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cli/runner.py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编排：先调用cli.data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_loader.load_segment() 加载，再调用src.processor.run_se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gment() 计算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否（仅编排）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980"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cli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9050" indent="0" latinLnBrk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cli/main.py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命令行参数解析，调 cli.runner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否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5820"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src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9050" indent="0" latinLnBrk="0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processor.py 及各算法模块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纯内存计算（判识/选取/逻辑/编码），保存输出NC文件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1600" b="0" i="0" spc="15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uFillTx/>
                          <a:latin typeface="+mj-ea"/>
                          <a:ea typeface="+mj-ea"/>
                          <a:cs typeface="+mj-ea"/>
                        </a:rPr>
                        <a:t>否（只接收内存数据，不读取输入文件</a:t>
                      </a:r>
                      <a:endParaRPr lang="en-US" altLang="zh-CN" sz="1600" b="0" i="0" spc="15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uFillTx/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关键设计决策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 spc="0">
                <a:solidFill>
                  <a:schemeClr val="tx1"/>
                </a:solidFill>
              </a:rPr>
              <a:t>全 int8 索引运算：为避免 dtype=object 字符串数组的性能开销，selector 和 logic_judger 中的天气现象均以 int8 索引表示，仅在输出阶段通过查找表（LUT）转换为整型电码。</a:t>
            </a:r>
            <a:endParaRPr lang="en-US" altLang="zh-CN" spc="0">
              <a:solidFill>
                <a:schemeClr val="tx1"/>
              </a:solidFill>
            </a:endParaRPr>
          </a:p>
          <a:p>
            <a:r>
              <a:rPr lang="en-US" altLang="zh-CN" spc="0">
                <a:solidFill>
                  <a:schemeClr val="tx1"/>
                </a:solidFill>
              </a:rPr>
              <a:t> 预计算矩阵：在模块加载时一次性预计算</a:t>
            </a:r>
            <a:endParaRPr lang="en-US" altLang="zh-CN" spc="0">
              <a:solidFill>
                <a:schemeClr val="tx1"/>
              </a:solidFill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</a:rPr>
              <a:t>_EXCL[N_CODES, N_CODES] — 互斥关系矩阵（selector）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</a:rPr>
              <a:t>_ACCOMPANY[N_CODES, N_CODES] — 伴有关系矩阵（logic_judger）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</a:rPr>
              <a:t>_JIAN_CAND[N_CODES, N_CODES] — 间候选矩阵（logic_judger）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</a:rPr>
              <a:t>_CODE_INT_LUT[N_CODES] — 索引→整型电码查找表（encoder）</a:t>
            </a:r>
            <a:endParaRPr lang="en-US" altLang="zh-CN" sz="1800" spc="0">
              <a:solidFill>
                <a:schemeClr val="tx1"/>
              </a:solidFill>
            </a:endParaRPr>
          </a:p>
          <a:p>
            <a:pPr marL="228600" lvl="0" indent="-228600">
              <a:buFont typeface="Arial" panose="020B0604020202020204" pitchFamily="34" charset="0"/>
              <a:buChar char="●"/>
            </a:pPr>
            <a:r>
              <a:rPr lang="en-US" altLang="zh-CN" spc="0">
                <a:solidFill>
                  <a:schemeClr val="tx1"/>
                </a:solidFill>
              </a:rPr>
              <a:t>Plugin 单例模式</a:t>
            </a:r>
            <a:endParaRPr lang="en-US" altLang="zh-CN" spc="0">
              <a:solidFill>
                <a:schemeClr val="tx1"/>
              </a:solidFill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</a:rPr>
              <a:t>processor.py 中以模块级单例形式持有四个 Plugin 实例，避免重复初始化：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</a:rPr>
              <a:t>_identifier = DIA_WeatherPhenomIdentifier()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</a:rPr>
              <a:t>_selector   = DIA_WeatherPhenomSelector()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</a:rPr>
              <a:t>_judger     = DIA_WeatherPhenomLogicJudger()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</a:rPr>
              <a:t>_encoder    = DIA_WeatherPhenomEncoder()</a:t>
            </a:r>
            <a:endParaRPr lang="en-US" altLang="zh-CN" sz="1800" spc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170815"/>
            <a:ext cx="10968990" cy="4588510"/>
          </a:xfrm>
        </p:spPr>
        <p:txBody>
          <a:bodyPr>
            <a:normAutofit lnSpcReduction="20000"/>
          </a:bodyPr>
          <a:p>
            <a:pPr lvl="0" algn="l">
              <a:buClrTx/>
              <a:buSzTx/>
            </a:pPr>
            <a:r>
              <a:rPr lang="en-US" altLang="zh-CN" sz="2025" spc="0">
                <a:solidFill>
                  <a:schemeClr val="tx1"/>
                </a:solidFill>
              </a:rPr>
              <a:t>并行策略</a:t>
            </a:r>
            <a:endParaRPr lang="en-US" altLang="zh-CN" sz="2025" spc="0">
              <a:solidFill>
                <a:schemeClr val="tx1"/>
              </a:solidFill>
            </a:endParaRPr>
          </a:p>
          <a:p>
            <a:pPr lvl="1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并行编排完全属于 cli 层职责（cli/runner.py），src 层只接收每个时段已加载完成的内存数据，不感知并行调度细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节：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cli.runner.run(init_time)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  └─ ThreadPoolExecutor(max_seg_workers=3)         # 时段间并行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       ├─ cli.runner.run_segment(seg=1, max_workers=4)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       │    ├─ cli.data_loader.load_segment(max_workers=4)   # 文件级并行(cli层)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       │    └─ src.processor.run_segment(data_dict, ...)      # 纯内存计算(src层)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       ├─ cli.runner.run_segment(seg=</a:t>
            </a:r>
            <a:r>
              <a:rPr lang="en-US" altLang="zh-CN" sz="1800" i="1" spc="0">
                <a:solidFill>
                  <a:schemeClr val="tx1"/>
                </a:solidFill>
              </a:rPr>
              <a:t>2, ma</a:t>
            </a:r>
            <a:r>
              <a:rPr lang="en-US" altLang="zh-CN" sz="1800" spc="0">
                <a:solidFill>
                  <a:schemeClr val="tx1"/>
                </a:solidFill>
              </a:rPr>
              <a:t>x_workers=4)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2" algn="l">
              <a:buClrTx/>
              <a:buSzTx/>
            </a:pPr>
            <a:r>
              <a:rPr lang="en-US" altLang="zh-CN" sz="1800" spc="0">
                <a:solidFill>
                  <a:schemeClr val="tx1"/>
                </a:solidFill>
              </a:rPr>
              <a:t>       └─ cli.runner.run_segment(seg=3, max_workers=4)</a:t>
            </a:r>
            <a:endParaRPr lang="en-US" altLang="zh-CN" sz="1800" spc="0">
              <a:solidFill>
                <a:schemeClr val="tx1"/>
              </a:solidFill>
            </a:endParaRPr>
          </a:p>
          <a:p>
            <a:pPr lvl="0" indent="-228600" algn="l">
              <a:buClrTx/>
              <a:buSzTx/>
              <a:buFont typeface="Arial" panose="020B0604020202020204" pitchFamily="34" charset="0"/>
              <a:buChar char="●"/>
            </a:pPr>
            <a:r>
              <a:rPr lang="en-US" altLang="zh-CN" sz="2025" spc="0">
                <a:solidFill>
                  <a:schemeClr val="tx1"/>
                </a:solidFill>
              </a:rPr>
              <a:t> 配置职责分离</a:t>
            </a:r>
            <a:endParaRPr lang="en-US" altLang="zh-CN" sz="2025" spc="0">
              <a:solidFill>
                <a:schemeClr val="tx1"/>
              </a:solidFill>
            </a:endParaRPr>
          </a:p>
          <a:p>
            <a:pPr marL="685800" lvl="1" indent="-228600">
              <a:buFont typeface="Arial" panose="020B0604020202020204" pitchFamily="34" charset="0"/>
              <a:buChar char="●"/>
            </a:pPr>
            <a:r>
              <a:rPr lang="en-US" altLang="zh-CN" sz="1800" spc="0">
                <a:solidFill>
                  <a:schemeClr val="tx1"/>
                </a:solidFill>
              </a:rPr>
              <a:t>遵循国省统筹规范"环境无关性"原则，resource/ 内部严格分层：</a:t>
            </a:r>
            <a:endParaRPr lang="en-US" altLang="zh-CN" sz="1800" spc="0">
              <a:solidFill>
                <a:schemeClr val="tx1"/>
              </a:solidFill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1689735" y="4702175"/>
          <a:ext cx="9982200" cy="1772920"/>
        </p:xfrm>
        <a:graphic>
          <a:graphicData uri="http://schemas.openxmlformats.org/drawingml/2006/table">
            <a:tbl>
              <a:tblPr/>
              <a:tblGrid>
                <a:gridCol w="3327400"/>
                <a:gridCol w="3327400"/>
                <a:gridCol w="3327400"/>
              </a:tblGrid>
              <a:tr h="443230"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i="0">
                          <a:uFillTx/>
                        </a:rPr>
                        <a:t>模块</a:t>
                      </a:r>
                      <a:endParaRPr lang="en-US" altLang="zh-CN" sz="180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i="0">
                          <a:uFillTx/>
                        </a:rPr>
                        <a:t>变更频率</a:t>
                      </a:r>
                      <a:endParaRPr lang="en-US" altLang="zh-CN" sz="180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i="0">
                          <a:uFillTx/>
                        </a:rPr>
                        <a:t>部署相关</a:t>
                      </a:r>
                      <a:endParaRPr lang="en-US" altLang="zh-CN" sz="180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230"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data_schema.py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算法规范变更时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否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230"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config.py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每个部署环境不同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i="0">
                          <a:uFillTx/>
                        </a:rPr>
                        <a:t>是</a:t>
                      </a:r>
                      <a:endParaRPr lang="en-US" altLang="zh-CN" sz="180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230"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weather_config.py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业务规则变更时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143000" lvl="2" indent="-22860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●"/>
                      </a:pPr>
                      <a:r>
                        <a:rPr lang="en-US" altLang="zh-CN" sz="1800" b="0" i="0">
                          <a:uFillTx/>
                        </a:rPr>
                        <a:t>否</a:t>
                      </a:r>
                      <a:endParaRPr lang="en-US" altLang="zh-CN" sz="1800" b="0" i="0">
                        <a:uFillTx/>
                      </a:endParaRPr>
                    </a:p>
                  </a:txBody>
                  <a:tcPr marL="124142" marR="124142" marT="57467" marB="57467" anchor="ctr" anchorCtr="0">
                    <a:lnL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32343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08965" y="6475095"/>
            <a:ext cx="1158303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DATA_ROOT </a:t>
            </a:r>
            <a:r>
              <a:rPr lang="zh-CN" altLang="en-US"/>
              <a:t>通过环境变量 </a:t>
            </a:r>
            <a:r>
              <a:rPr lang="en-US" altLang="zh-CN"/>
              <a:t>SCMOC_DATA_ROOT </a:t>
            </a:r>
            <a:r>
              <a:rPr lang="zh-CN" altLang="en-US"/>
              <a:t>或 </a:t>
            </a:r>
            <a:r>
              <a:rPr lang="en-US" altLang="zh-CN"/>
              <a:t>CLI --data-root </a:t>
            </a:r>
            <a:r>
              <a:rPr lang="zh-CN" altLang="en-US"/>
              <a:t>注入，源码本身不绑定具体服务器地址。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41725" y="113100"/>
            <a:ext cx="10969200" cy="705600"/>
          </a:xfrm>
        </p:spPr>
        <p:txBody>
          <a:bodyPr/>
          <a:p>
            <a:r>
              <a:rPr lang="zh-CN" altLang="en-US"/>
              <a:t>测试与检验</a:t>
            </a:r>
            <a:r>
              <a:rPr lang="en-US" altLang="zh-CN" sz="2400"/>
              <a:t> 2026030100</a:t>
            </a:r>
            <a:r>
              <a:rPr lang="zh-CN" altLang="en-US" sz="2400"/>
              <a:t>时</a:t>
            </a:r>
            <a:endParaRPr lang="zh-CN" altLang="en-US" sz="24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36880" y="1220470"/>
            <a:ext cx="10968990" cy="38696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500hPa_20260301_08BJT_Asia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695" y="210820"/>
            <a:ext cx="7279640" cy="64369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3585" y="299720"/>
            <a:ext cx="10231120" cy="6429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280035"/>
            <a:ext cx="7957820" cy="6297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490" y="299085"/>
            <a:ext cx="7767320" cy="62591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TABLE_ENDDRAG_ORIGIN_RECT" val="786*137"/>
  <p:tag name="TABLE_ENDDRAG_RECT" val="133*370*786*137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3254</Words>
  <Application>WPS 演示</Application>
  <PresentationFormat>宽屏</PresentationFormat>
  <Paragraphs>355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Liter</vt:lpstr>
      <vt:lpstr>ESRI AMFM Electric</vt:lpstr>
      <vt:lpstr>Liter</vt:lpstr>
      <vt:lpstr>Liter</vt:lpstr>
      <vt:lpstr>MingLiU-ExtB</vt:lpstr>
      <vt:lpstr>Times New Roman</vt:lpstr>
      <vt:lpstr>黑体</vt:lpstr>
      <vt:lpstr>Helvetica</vt:lpstr>
      <vt:lpstr>jetbrains mono</vt:lpstr>
      <vt:lpstr>WPS</vt:lpstr>
      <vt:lpstr>PowerPoint 演示文稿</vt:lpstr>
      <vt:lpstr>依据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普布扎西</cp:lastModifiedBy>
  <cp:revision>157</cp:revision>
  <dcterms:created xsi:type="dcterms:W3CDTF">2019-06-19T02:08:00Z</dcterms:created>
  <dcterms:modified xsi:type="dcterms:W3CDTF">2026-07-10T09:43:17Z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80C8BC464A1749AC9D28A70C786209EA_11</vt:lpwstr>
  </property>
</Properties>
</file>